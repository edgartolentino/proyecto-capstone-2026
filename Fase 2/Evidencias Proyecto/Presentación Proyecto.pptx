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20"/>
    <p:sldId id="270" r:id="rId21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" id="{5BC0A72B-EC51-7B97-193D-725B07B1D647}">
          <p14:sldIdLst>
            <p14:sldId id="256"/>
            <p14:sldId id="257"/>
            <p14:sldId id="258"/>
          </p14:sldIdLst>
        </p14:section>
        <p14:section name="Avance" id="{C6BC8B5D-E5A8-D059-4C47-942083ED4C3B}">
          <p14:sldIdLst>
            <p14:sldId id="259"/>
            <p14:sldId id="260"/>
            <p14:sldId id="261"/>
            <p14:sldId id="262"/>
            <p14:sldId id="263"/>
          </p14:sldIdLst>
        </p14:section>
        <p14:section name="Demostración" id="{FFD5D42C-DED2-A8D0-2C56-0B26E8F60862}">
          <p14:sldIdLst>
            <p14:sldId id="264"/>
            <p14:sldId id="269"/>
            <p14:sldId id="270"/>
          </p14:sldIdLst>
        </p14:section>
        <p14:section name="Gestión" id="{E6099DCB-8CE1-0DA0-A640-CC6C023898C1}">
          <p14:sldIdLst>
            <p14:sldId id="265"/>
            <p14:sldId id="266"/>
            <p14:sldId id="267"/>
          </p14:sldIdLst>
        </p14:section>
        <p14:section name="Cierre" id="{5933B3E3-9208-693A-A4C0-D64271533DE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2324"/>
                </a:solidFill>
                <a:latin typeface="+mn-lt"/>
              </a:defRPr>
            </a:pPr>
            <a:r>
              <a:rPr lang="es-MX" sz="1600" b="0" i="0" u="none" strike="noStrike">
                <a:solidFill>
                  <a:srgbClr val="1F2324"/>
                </a:solidFill>
                <a:latin typeface="+mn-lt"/>
              </a:rPr>
              <a:t>Cajas etiquetadas en los 240 cuadros de prueba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Cajas</c:v>
                </c:pt>
              </c:strCache>
            </c:strRef>
          </c:tx>
          <c:spPr>
            <a:solidFill>
              <a:srgbClr val="E8601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1F2324"/>
                    </a:solidFill>
                    <a:latin typeface="+mn-lt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Persona</c:v>
                </c:pt>
                <c:pt idx="1">
                  <c:v>Casco</c:v>
                </c:pt>
                <c:pt idx="2">
                  <c:v>Chaleco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2446</c:v>
                </c:pt>
                <c:pt idx="1">
                  <c:v>1600</c:v>
                </c:pt>
                <c:pt idx="2">
                  <c:v>322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69-43D2-83DD-6F344E472A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F23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049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Sugerido: presenta Lian. Saludo, nombre del proyecto y qué se muestra hoy: el avance de la Fase 2 a la semana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Sugerido: presenta Lian. Cada integrante dice en una frase su rol y su aporte de la Fase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Sugerido: presenta Lian. El problema en una frase y la solución en una frase; los tres principios 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Sugerido: presenta Edgar. Recorrer los seis objetivos por color: dos completados, uno en curso adelantado (OE5) y uno en curso (OE6), uno ajustado y uno con retraso, con la causa.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Sugerido: presenta Edgar. Cuatro números, uno por frase. Todas las cifras salen del repositorio y de CVAT al 12 de octubre.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Sugerido: presenta Edgar. Seguir el video de izquierda a derecha. Recalcar: el detector y las reglas deciden; nadie identifica personas.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Sugerido: presenta Miguel. La línea naranja es hoy. Lo verde está hecho; lo rojo, atrasado (etiquetado y métrica del modelo), con su causa en la lámina de ajustes.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Sugerido: presenta Edgar. Aclarar que el 0,810 es sobre datos públicos y sirve para elegir el modelo; la métrica del proyecto se mide sobre el video de prueba, que el modelo nunca vio.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Sugerido: presenta Miguel. Demo en vivo siguiendo docs/operacion/recorrido-h2.md. Si algo falla, se muestra la grabación de respaldo. La vista en vivo es el modelo real; el visor es de la demo con el detector simulado.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Sugerido: presenta Miguel. Cada ajuste con su causa. Cerrar con la retroalimentación de la Fase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Sugerido: presenta Lian. Iterativa e incremental: integrar temprano y mejorar después. Mencionar las dos prácticas nuevas de la Fase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Sugerido: presenta Lian. Lo que entrega la versión 1.0 en la S15 y lo que no hace, dicho con claridad.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Sugerido: presenta Miguel y cierran los tres. Agradecer y abrir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Sugerido: presenta Lian. Las pantallas principales de la web. Panel, reglas y cola se capturaron contra el contrato simulado (Prism); el pedido en proceso es el sistema real con el modelo. Todo está en Fase 2/Evidencias Proyecto/Evidencias de sistema/Aplicación.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Sugerido: presenta Miguel. 15 tablas en PostgreSQL. El esquema no se edita a mano: sale de las migraciones y se exporta con un script, sin base levantada. Hay datos de ejemplo del perfil de construcción. Las columnas de cada tabla están en diagrama-er.md, que GitHub dibuja solo.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4884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de Duoc U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384048"/>
            <a:ext cx="1737360" cy="4343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Guardián EPP · Informe de avance · Fase 2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Guardián EPP · Informe de avance · Fase 2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Relationship Id="rId4" Type="http://schemas.openxmlformats.org/officeDocument/2006/relationships/image" Target="../media/image21.png"/><Relationship Id="rId5" Type="http://schemas.openxmlformats.org/officeDocument/2006/relationships/image" Target="../media/image4.png"/><Relationship Id="rId6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Relationship Id="rId5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5.png"/><Relationship Id="rId7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22.png"/><Relationship Id="rId8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488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Guardián EPP</a:t>
            </a:r>
            <a:endParaRPr lang="en-US" sz="6000" dirty="0"/>
          </a:p>
        </p:txBody>
      </p:sp>
      <p:sp>
        <p:nvSpPr>
          <p:cNvPr id="4" name="fondo logo"/>
          <p:cNvSpPr/>
          <p:nvPr/>
        </p:nvSpPr>
        <p:spPr>
          <a:xfrm>
            <a:off x="548640" y="457200"/>
            <a:ext cx="22860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logo Duoc UC" descr="Logo de Duoc UC, Escuela de Informática y Telecomunicacion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48640"/>
            <a:ext cx="201168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accent1"/>
                </a:solidFill>
              </a:rPr>
              <a:t>PROYECTO APT · FASE 2 · INFORME DE AVANCE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2918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accent6"/>
                </a:solidFill>
              </a:rPr>
              <a:t>Detección automática del uso de elementos de protección personal sobre video de obra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846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Edgar Tolentino  ·  Miguel Ortega  ·  Lian Grandón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49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Portafolio de Título APT122 · Ingeniería en Informática · Duoc UC · Octubre de 2026</a:t>
            </a:r>
            <a:endParaRPr lang="en-US" sz="1400" dirty="0"/>
          </a:p>
        </p:txBody>
      </p:sp>
      <p:sp>
        <p:nvSpPr>
          <p:cNvPr id="10" name="ícono casco fondo"/>
          <p:cNvSpPr/>
          <p:nvPr/>
        </p:nvSpPr>
        <p:spPr>
          <a:xfrm>
            <a:off x="8732520" y="640080"/>
            <a:ext cx="2834640" cy="2834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ícono casco" descr="Ícono de casco de seguridad en un círculo naranj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180" y="1348740"/>
            <a:ext cx="1417320" cy="1417320"/>
          </a:xfrm>
          <a:prstGeom prst="rect">
            <a:avLst/>
          </a:prstGeom>
        </p:spPr>
      </p:pic>
      <p:pic>
        <p:nvPicPr>
          <p:cNvPr id="12" name="captura bandeja" descr="Captura de la bandeja de hallazgos de la web, con un hallazgo de prioridad alta por revis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3246120"/>
            <a:ext cx="4754880" cy="1888236"/>
          </a:xfrm>
          <a:prstGeom prst="rect">
            <a:avLst/>
          </a:prstGeom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 del proyecto</a:t>
            </a:r>
            <a:endParaRPr lang="en-US" sz="3200" dirty="0"/>
          </a:p>
        </p:txBody>
      </p:sp>
      <p:sp>
        <p:nvSpPr>
          <p:cNvPr id="4" name="tarjeta Edgar Tolentino"/>
          <p:cNvSpPr/>
          <p:nvPr/>
        </p:nvSpPr>
        <p:spPr>
          <a:xfrm>
            <a:off x="548640" y="1371600"/>
            <a:ext cx="3474720" cy="475488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ícono Edgar Tolentino fondo"/>
          <p:cNvSpPr/>
          <p:nvPr/>
        </p:nvSpPr>
        <p:spPr>
          <a:xfrm>
            <a:off x="868680" y="164592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ícono Edgar Tolentino" descr="Ícono de microprocesador, para el líder técnic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189738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Edgar Tolentino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Líder técnico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4"/>
                </a:solidFill>
              </a:rPr>
              <a:t>APORTE EN LA FASE 2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42062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Modelo RF-DETR y detector en mosaico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API, base de datos e ingesta de video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CVAT y revisión del etiquetado</a:t>
            </a:r>
            <a:endParaRPr lang="en-US" sz="1600" dirty="0"/>
          </a:p>
        </p:txBody>
      </p:sp>
      <p:sp>
        <p:nvSpPr>
          <p:cNvPr id="11" name="tarjeta Miguel Ortega"/>
          <p:cNvSpPr/>
          <p:nvPr/>
        </p:nvSpPr>
        <p:spPr>
          <a:xfrm>
            <a:off x="4297680" y="1371600"/>
            <a:ext cx="3474720" cy="475488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ícono Miguel Ortega fondo"/>
          <p:cNvSpPr/>
          <p:nvPr/>
        </p:nvSpPr>
        <p:spPr>
          <a:xfrm>
            <a:off x="4617720" y="164592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ícono Miguel Ortega" descr="Ícono de monitor, para el desarrollo fronte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180" y="18973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17720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Miguel Ortega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461772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Desarrollo frontend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61772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4"/>
                </a:solidFill>
              </a:rPr>
              <a:t>APORTE EN LA FASE 2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17720" y="42062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Bandeja y visor de evidencia (PR #17)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Pantalla de reglas (#92) y panel general (#98)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Etiquetado de 180 cuadros</a:t>
            </a:r>
            <a:endParaRPr lang="en-US" sz="1600" dirty="0"/>
          </a:p>
        </p:txBody>
      </p:sp>
      <p:sp>
        <p:nvSpPr>
          <p:cNvPr id="18" name="tarjeta Lian Grandón"/>
          <p:cNvSpPr/>
          <p:nvPr/>
        </p:nvSpPr>
        <p:spPr>
          <a:xfrm>
            <a:off x="8046720" y="1371600"/>
            <a:ext cx="3474720" cy="475488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ícono Lian Grandón fondo"/>
          <p:cNvSpPr/>
          <p:nvPr/>
        </p:nvSpPr>
        <p:spPr>
          <a:xfrm>
            <a:off x="8366760" y="164592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0" name="ícono Lian Grandón" descr="Ícono de portapapeles con marca de verificación, para frontend y calida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220" y="189738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66760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Lian Grandón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836676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Frontend y calidad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36676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4"/>
                </a:solidFill>
              </a:rPr>
              <a:t>APORTE EN LA FASE 2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8366760" y="420624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Cola de videos y reproceso (#117, #118)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Manual de usuario e informe de pruebas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Etiquetado de 60 cuadros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del proyecto</a:t>
            </a:r>
            <a:endParaRPr lang="en-US" sz="3200" dirty="0"/>
          </a:p>
        </p:txBody>
      </p:sp>
      <p:sp>
        <p:nvSpPr>
          <p:cNvPr id="4" name="tarjeta Problema"/>
          <p:cNvSpPr/>
          <p:nvPr/>
        </p:nvSpPr>
        <p:spPr>
          <a:xfrm>
            <a:off x="548640" y="1371600"/>
            <a:ext cx="57607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ícono Problema fondo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ícono Problema" descr="Ícono de triángulo de advertenc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288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37360" y="1645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4688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El uso de EPP es obligatorio (DS 594, art. 53), pero la fiscalización es humana y por muestreo: nadie puede decir qué EPP se incumple más, dónde ni cuándo.</a:t>
            </a:r>
            <a:endParaRPr lang="en-US" sz="1600" dirty="0"/>
          </a:p>
        </p:txBody>
      </p:sp>
      <p:sp>
        <p:nvSpPr>
          <p:cNvPr id="9" name="tarjeta Solución"/>
          <p:cNvSpPr/>
          <p:nvPr/>
        </p:nvSpPr>
        <p:spPr>
          <a:xfrm>
            <a:off x="548640" y="3794760"/>
            <a:ext cx="576072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ícono Solución fondo"/>
          <p:cNvSpPr/>
          <p:nvPr/>
        </p:nvSpPr>
        <p:spPr>
          <a:xfrm>
            <a:off x="822960" y="4069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ícono Solución" descr="Ícono de casco de segurida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519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40690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</a:t>
            </a:r>
            <a:endParaRPr lang="en-US" sz="2600" dirty="0"/>
          </a:p>
        </p:txBody>
      </p:sp>
      <p:sp>
        <p:nvSpPr>
          <p:cNvPr id="13" name="Text 8"/>
          <p:cNvSpPr txBox="1"/>
          <p:nvPr/>
        </p:nvSpPr>
        <p:spPr>
          <a:xfrm>
            <a:off x="822960" y="489204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Una plataforma web que procesa el video de las cámaras de la obra, detecta casco y chaleco y convierte cada incumplimiento en un hallazgo con evidencia para el prevencionista.</a:t>
            </a:r>
            <a:endParaRPr lang="en-US" sz="1600" dirty="0"/>
          </a:p>
        </p:txBody>
      </p:sp>
      <p:pic>
        <p:nvPicPr>
          <p:cNvPr id="14" name="captura bandeja" descr="Captura de la bandeja de hallazgos de la web, con un hallazgo de prioridad alta por revis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371600"/>
            <a:ext cx="5059375" cy="2008870"/>
          </a:xfrm>
          <a:prstGeom prst="rect">
            <a:avLst/>
          </a:prstGeom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15" name="ícono Sin identificar personas fondo"/>
          <p:cNvSpPr/>
          <p:nvPr/>
        </p:nvSpPr>
        <p:spPr>
          <a:xfrm>
            <a:off x="6583680" y="361188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ícono Sin identificar personas" descr="Ícono de ojo tachad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700" y="377190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406640" y="3584448"/>
            <a:ext cx="4236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Sin identificar personas</a:t>
            </a:r>
            <a:endParaRPr lang="en-US" sz="1700" dirty="0"/>
          </a:p>
        </p:txBody>
      </p:sp>
      <p:sp>
        <p:nvSpPr>
          <p:cNvPr id="18" name="Text 11"/>
          <p:cNvSpPr txBox="1"/>
          <p:nvPr/>
        </p:nvSpPr>
        <p:spPr>
          <a:xfrm>
            <a:off x="7406640" y="3913632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Rostros difuminados, sin reconocimiento facial</a:t>
            </a:r>
            <a:endParaRPr lang="en-US" sz="1400" dirty="0"/>
          </a:p>
        </p:txBody>
      </p:sp>
      <p:sp>
        <p:nvSpPr>
          <p:cNvPr id="19" name="ícono El humano valida fondo"/>
          <p:cNvSpPr/>
          <p:nvPr/>
        </p:nvSpPr>
        <p:spPr>
          <a:xfrm>
            <a:off x="6583680" y="4453128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0" name="ícono El humano valida" descr="Ícono de persona con marca de verificació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3700" y="4613148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406640" y="4425696"/>
            <a:ext cx="4236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El humano valida</a:t>
            </a:r>
            <a:endParaRPr lang="en-US" sz="1700" dirty="0"/>
          </a:p>
        </p:txBody>
      </p:sp>
      <p:sp>
        <p:nvSpPr>
          <p:cNvPr id="22" name="Text 14"/>
          <p:cNvSpPr txBox="1"/>
          <p:nvPr/>
        </p:nvSpPr>
        <p:spPr>
          <a:xfrm>
            <a:off x="7406640" y="4754880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El sistema propone; el prevencionista confirma</a:t>
            </a:r>
            <a:endParaRPr lang="en-US" sz="1400" dirty="0"/>
          </a:p>
        </p:txBody>
      </p:sp>
      <p:sp>
        <p:nvSpPr>
          <p:cNvPr id="23" name="ícono Configurable fondo"/>
          <p:cNvSpPr/>
          <p:nvPr/>
        </p:nvSpPr>
        <p:spPr>
          <a:xfrm>
            <a:off x="6583680" y="5294376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4" name="ícono Configurable" descr="Ícono de engranaje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3700" y="5454396"/>
            <a:ext cx="320040" cy="32004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406640" y="5266944"/>
            <a:ext cx="4236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Configurable</a:t>
            </a:r>
            <a:endParaRPr lang="en-US" sz="1700" dirty="0"/>
          </a:p>
        </p:txBody>
      </p:sp>
      <p:sp>
        <p:nvSpPr>
          <p:cNvPr id="26" name="Text 17"/>
          <p:cNvSpPr txBox="1"/>
          <p:nvPr/>
        </p:nvSpPr>
        <p:spPr>
          <a:xfrm>
            <a:off x="7406640" y="5596128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Reglas por zona, turno y severidad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y su estado a la semana 10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Objetivo general: detectar automáticamente, sobre video de obra, el incumplimiento en el uso de EPP y convertirlo en un hallazgo gestionable, con evidencia, alerta y analítica.</a:t>
            </a:r>
            <a:endParaRPr lang="en-US" sz="1600" dirty="0"/>
          </a:p>
        </p:txBody>
      </p:sp>
      <p:sp>
        <p:nvSpPr>
          <p:cNvPr id="5" name="tarjeta OE1"/>
          <p:cNvSpPr/>
          <p:nvPr/>
        </p:nvSpPr>
        <p:spPr>
          <a:xfrm>
            <a:off x="548640" y="196596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OE1</a:t>
            </a:r>
            <a:endParaRPr lang="en-US" sz="2200" dirty="0"/>
          </a:p>
        </p:txBody>
      </p:sp>
      <p:sp>
        <p:nvSpPr>
          <p:cNvPr id="7" name="estado Ajustado"/>
          <p:cNvSpPr txBox="1"/>
          <p:nvPr/>
        </p:nvSpPr>
        <p:spPr>
          <a:xfrm>
            <a:off x="2423160" y="2212848"/>
            <a:ext cx="1325880" cy="310896"/>
          </a:xfrm>
          <a:prstGeom prst="roundRect">
            <a:avLst>
              <a:gd name="adj" fmla="val 2352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Ajustado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Conjunto de datos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08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240 cuadros de prueba etiquetados y revisados. Falta el doble etiquetado.</a:t>
            </a:r>
            <a:endParaRPr lang="en-US" sz="1500" dirty="0"/>
          </a:p>
        </p:txBody>
      </p:sp>
      <p:sp>
        <p:nvSpPr>
          <p:cNvPr id="10" name="tarjeta OE2"/>
          <p:cNvSpPr/>
          <p:nvPr/>
        </p:nvSpPr>
        <p:spPr>
          <a:xfrm>
            <a:off x="4297680" y="196596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 txBox="1"/>
          <p:nvPr/>
        </p:nvSpPr>
        <p:spPr>
          <a:xfrm>
            <a:off x="4572000" y="2194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OE2</a:t>
            </a:r>
            <a:endParaRPr lang="en-US" sz="2200" dirty="0"/>
          </a:p>
        </p:txBody>
      </p:sp>
      <p:sp>
        <p:nvSpPr>
          <p:cNvPr id="12" name="estado Con retraso"/>
          <p:cNvSpPr txBox="1"/>
          <p:nvPr/>
        </p:nvSpPr>
        <p:spPr>
          <a:xfrm>
            <a:off x="6172200" y="2212848"/>
            <a:ext cx="1325880" cy="310896"/>
          </a:xfrm>
          <a:prstGeom prst="roundRect">
            <a:avLst>
              <a:gd name="adj" fmla="val 2352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Con retraso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Detector de casco y chaleco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108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Modelo entrenado y en CPU. Falta la métrica sobre el video de prueba.</a:t>
            </a:r>
            <a:endParaRPr lang="en-US" sz="1500" dirty="0"/>
          </a:p>
        </p:txBody>
      </p:sp>
      <p:sp>
        <p:nvSpPr>
          <p:cNvPr id="15" name="tarjeta OE3"/>
          <p:cNvSpPr/>
          <p:nvPr/>
        </p:nvSpPr>
        <p:spPr>
          <a:xfrm>
            <a:off x="8046720" y="196596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 txBox="1"/>
          <p:nvPr/>
        </p:nvSpPr>
        <p:spPr>
          <a:xfrm>
            <a:off x="8321040" y="2194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OE3</a:t>
            </a:r>
            <a:endParaRPr lang="en-US" sz="2200" dirty="0"/>
          </a:p>
        </p:txBody>
      </p:sp>
      <p:sp>
        <p:nvSpPr>
          <p:cNvPr id="17" name="estado Completado"/>
          <p:cNvSpPr txBox="1"/>
          <p:nvPr/>
        </p:nvSpPr>
        <p:spPr>
          <a:xfrm>
            <a:off x="9921240" y="2212848"/>
            <a:ext cx="1325880" cy="310896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Completado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 detecciones a eventos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3108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Seguimiento y agrupación en hallazgos con evidencia.</a:t>
            </a:r>
            <a:endParaRPr lang="en-US" sz="1500" dirty="0"/>
          </a:p>
        </p:txBody>
      </p:sp>
      <p:sp>
        <p:nvSpPr>
          <p:cNvPr id="20" name="tarjeta OE4"/>
          <p:cNvSpPr/>
          <p:nvPr/>
        </p:nvSpPr>
        <p:spPr>
          <a:xfrm>
            <a:off x="548640" y="416052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 txBox="1"/>
          <p:nvPr/>
        </p:nvSpPr>
        <p:spPr>
          <a:xfrm>
            <a:off x="822960" y="4389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OE4</a:t>
            </a:r>
            <a:endParaRPr lang="en-US" sz="2200" dirty="0"/>
          </a:p>
        </p:txBody>
      </p:sp>
      <p:sp>
        <p:nvSpPr>
          <p:cNvPr id="22" name="estado Completado"/>
          <p:cNvSpPr txBox="1"/>
          <p:nvPr/>
        </p:nvSpPr>
        <p:spPr>
          <a:xfrm>
            <a:off x="2423160" y="4407408"/>
            <a:ext cx="1325880" cy="310896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Completado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Modelo de datos y reglas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303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15 tablas y motor de reglas, cuatro semanas antes.</a:t>
            </a:r>
            <a:endParaRPr lang="en-US" sz="1500" dirty="0"/>
          </a:p>
        </p:txBody>
      </p:sp>
      <p:sp>
        <p:nvSpPr>
          <p:cNvPr id="25" name="tarjeta OE5"/>
          <p:cNvSpPr/>
          <p:nvPr/>
        </p:nvSpPr>
        <p:spPr>
          <a:xfrm>
            <a:off x="4297680" y="416052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 txBox="1"/>
          <p:nvPr/>
        </p:nvSpPr>
        <p:spPr>
          <a:xfrm>
            <a:off x="4572000" y="4389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OE5</a:t>
            </a:r>
            <a:endParaRPr lang="en-US" sz="2200" dirty="0"/>
          </a:p>
        </p:txBody>
      </p:sp>
      <p:sp>
        <p:nvSpPr>
          <p:cNvPr id="27" name="estado En curso"/>
          <p:cNvSpPr txBox="1"/>
          <p:nvPr/>
        </p:nvSpPr>
        <p:spPr>
          <a:xfrm>
            <a:off x="6172200" y="4407408"/>
            <a:ext cx="1325880" cy="310896"/>
          </a:xfrm>
          <a:prstGeom prst="roundRect">
            <a:avLst>
              <a:gd name="adj" fmla="val 2352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En curso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Plataforma web y alertas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0" y="5303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Bandeja, visor, reglas, panel y cola de videos. Falta probar alertas.</a:t>
            </a:r>
            <a:endParaRPr lang="en-US" sz="1500" dirty="0"/>
          </a:p>
        </p:txBody>
      </p:sp>
      <p:sp>
        <p:nvSpPr>
          <p:cNvPr id="30" name="tarjeta OE6"/>
          <p:cNvSpPr/>
          <p:nvPr/>
        </p:nvSpPr>
        <p:spPr>
          <a:xfrm>
            <a:off x="8046720" y="416052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8"/>
          <p:cNvSpPr txBox="1"/>
          <p:nvPr/>
        </p:nvSpPr>
        <p:spPr>
          <a:xfrm>
            <a:off x="8321040" y="4389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OE6</a:t>
            </a:r>
            <a:endParaRPr lang="en-US" sz="2200" dirty="0"/>
          </a:p>
        </p:txBody>
      </p:sp>
      <p:sp>
        <p:nvSpPr>
          <p:cNvPr id="32" name="estado En curso"/>
          <p:cNvSpPr txBox="1"/>
          <p:nvPr/>
        </p:nvSpPr>
        <p:spPr>
          <a:xfrm>
            <a:off x="9921240" y="4407408"/>
            <a:ext cx="1325880" cy="310896"/>
          </a:xfrm>
          <a:prstGeom prst="roundRect">
            <a:avLst>
              <a:gd name="adj" fmla="val 2352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En curso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Validación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8321040" y="5303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1.312 pruebas automatizadas; plan formal en la S14.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avance en cifras</a:t>
            </a:r>
            <a:endParaRPr lang="en-US" sz="3200" dirty="0"/>
          </a:p>
        </p:txBody>
      </p:sp>
      <p:sp>
        <p:nvSpPr>
          <p:cNvPr id="4" name="cifra héroe"/>
          <p:cNvSpPr/>
          <p:nvPr/>
        </p:nvSpPr>
        <p:spPr>
          <a:xfrm>
            <a:off x="548640" y="1371600"/>
            <a:ext cx="4206240" cy="3931920"/>
          </a:xfrm>
          <a:prstGeom prst="roundRect">
            <a:avLst>
              <a:gd name="adj" fmla="val 186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 txBox="1"/>
          <p:nvPr/>
        </p:nvSpPr>
        <p:spPr>
          <a:xfrm>
            <a:off x="914400" y="16002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1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657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Recorrido completo funcionando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434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Del video al hallazgo en la web, logrado en la semana 9</a:t>
            </a:r>
            <a:endParaRPr lang="en-US" sz="1500" dirty="0"/>
          </a:p>
        </p:txBody>
      </p:sp>
      <p:sp>
        <p:nvSpPr>
          <p:cNvPr id="8" name="cifra Pruebas automatizadas"/>
          <p:cNvSpPr/>
          <p:nvPr/>
        </p:nvSpPr>
        <p:spPr>
          <a:xfrm>
            <a:off x="5029200" y="1371600"/>
            <a:ext cx="661385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5349240" y="1371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1.312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1572768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Pruebas automatizadas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1993392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Corren en cada cambio, junto con las de la web</a:t>
            </a:r>
            <a:endParaRPr lang="en-US" sz="1500" dirty="0"/>
          </a:p>
        </p:txBody>
      </p:sp>
      <p:sp>
        <p:nvSpPr>
          <p:cNvPr id="12" name="cifra Cajas etiquetadas"/>
          <p:cNvSpPr/>
          <p:nvPr/>
        </p:nvSpPr>
        <p:spPr>
          <a:xfrm>
            <a:off x="5029200" y="2743200"/>
            <a:ext cx="661385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 txBox="1"/>
          <p:nvPr/>
        </p:nvSpPr>
        <p:spPr>
          <a:xfrm>
            <a:off x="5349240" y="27432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4.368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2944368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Cajas etiquetadas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3364992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En los 240 cuadros del conjunto de prueba</a:t>
            </a:r>
            <a:endParaRPr lang="en-US" sz="1500" dirty="0"/>
          </a:p>
        </p:txBody>
      </p:sp>
      <p:sp>
        <p:nvSpPr>
          <p:cNvPr id="16" name="cifra Para 5 minutos de video"/>
          <p:cNvSpPr/>
          <p:nvPr/>
        </p:nvSpPr>
        <p:spPr>
          <a:xfrm>
            <a:off x="5029200" y="4114800"/>
            <a:ext cx="661385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 txBox="1"/>
          <p:nvPr/>
        </p:nvSpPr>
        <p:spPr>
          <a:xfrm>
            <a:off x="5349240" y="4114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 s</a:t>
            </a:r>
            <a:endParaRPr lang="en-US" sz="54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4315968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Para 5 minutos de video (9-oct)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4736592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Con el modelo en CPU, sin tarjeta gráfica</a:t>
            </a:r>
            <a:endParaRPr lang="en-US" sz="1500" dirty="0"/>
          </a:p>
        </p:txBody>
      </p:sp>
      <p:sp>
        <p:nvSpPr>
          <p:cNvPr id="20" name="ícono 12 decisiones de arquitectura (ADR) fondo"/>
          <p:cNvSpPr/>
          <p:nvPr/>
        </p:nvSpPr>
        <p:spPr>
          <a:xfrm>
            <a:off x="548640" y="55778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1" name="ícono 12 decisiones de arquitectura (ADR)" descr="Ícono de documento con contra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5726430"/>
            <a:ext cx="297180" cy="2971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325880" y="5577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12 decisiones de arquitectura (ADR)</a:t>
            </a:r>
            <a:endParaRPr lang="en-US" sz="1600" dirty="0"/>
          </a:p>
        </p:txBody>
      </p:sp>
      <p:sp>
        <p:nvSpPr>
          <p:cNvPr id="23" name="ícono 15 tablas en PostgreSQL fondo"/>
          <p:cNvSpPr/>
          <p:nvPr/>
        </p:nvSpPr>
        <p:spPr>
          <a:xfrm>
            <a:off x="4297680" y="55778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4" name="ícono 15 tablas en PostgreSQL" descr="Ícono de base de dato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270" y="5726430"/>
            <a:ext cx="297180" cy="29718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074920" y="5577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15 tablas en PostgreSQL</a:t>
            </a:r>
            <a:endParaRPr lang="en-US" sz="1600" dirty="0"/>
          </a:p>
        </p:txBody>
      </p:sp>
      <p:sp>
        <p:nvSpPr>
          <p:cNvPr id="26" name="ícono 79 PR fusionados por el equipo fondo"/>
          <p:cNvSpPr/>
          <p:nvPr/>
        </p:nvSpPr>
        <p:spPr>
          <a:xfrm>
            <a:off x="8046720" y="55778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7" name="ícono 79 PR fusionados por el equipo" descr="Ícono de ramas de códi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5310" y="5726430"/>
            <a:ext cx="297180" cy="2971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823960" y="5577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79 PR fusionados por el equipo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software</a:t>
            </a:r>
            <a:endParaRPr lang="en-US" sz="3200" dirty="0"/>
          </a:p>
        </p:txBody>
      </p:sp>
      <p:sp>
        <p:nvSpPr>
          <p:cNvPr id="4" name="paso Video"/>
          <p:cNvSpPr/>
          <p:nvPr/>
        </p:nvSpPr>
        <p:spPr>
          <a:xfrm>
            <a:off x="548640" y="1783080"/>
            <a:ext cx="1600200" cy="329184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ícono Video fondo"/>
          <p:cNvSpPr/>
          <p:nvPr/>
        </p:nvSpPr>
        <p:spPr>
          <a:xfrm>
            <a:off x="868680" y="201168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ícono Video" descr="Ícono de cinta de películ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2251710"/>
            <a:ext cx="480060" cy="4800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Video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3840480"/>
            <a:ext cx="1380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</a:rPr>
              <a:t>Archivo o cámara, pedido desde la web</a:t>
            </a:r>
            <a:endParaRPr lang="en-US" sz="1500" dirty="0"/>
          </a:p>
        </p:txBody>
      </p:sp>
      <p:pic>
        <p:nvPicPr>
          <p:cNvPr id="9" name="flecha 0" descr="Flecha que indica el paso siguiente del fluj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002" y="3291840"/>
            <a:ext cx="274320" cy="274320"/>
          </a:xfrm>
          <a:prstGeom prst="rect">
            <a:avLst/>
          </a:prstGeom>
        </p:spPr>
      </p:pic>
      <p:sp>
        <p:nvSpPr>
          <p:cNvPr id="10" name="paso Detector"/>
          <p:cNvSpPr/>
          <p:nvPr/>
        </p:nvSpPr>
        <p:spPr>
          <a:xfrm>
            <a:off x="2447483" y="1783080"/>
            <a:ext cx="1600200" cy="329184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ícono Detector fondo"/>
          <p:cNvSpPr/>
          <p:nvPr/>
        </p:nvSpPr>
        <p:spPr>
          <a:xfrm>
            <a:off x="2767523" y="201168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ícono Detector" descr="Ícono de lup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7553" y="2251710"/>
            <a:ext cx="480060" cy="4800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2538923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Detector</a:t>
            </a:r>
            <a:endParaRPr lang="en-US" sz="2000" dirty="0"/>
          </a:p>
        </p:txBody>
      </p:sp>
      <p:sp>
        <p:nvSpPr>
          <p:cNvPr id="14" name="Text 8"/>
          <p:cNvSpPr txBox="1"/>
          <p:nvPr/>
        </p:nvSpPr>
        <p:spPr>
          <a:xfrm>
            <a:off x="2557211" y="3840480"/>
            <a:ext cx="1380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</a:rPr>
              <a:t>RF-DETR: persona, casco y chaleco</a:t>
            </a:r>
            <a:endParaRPr lang="en-US" sz="1500" dirty="0"/>
          </a:p>
        </p:txBody>
      </p:sp>
      <p:pic>
        <p:nvPicPr>
          <p:cNvPr id="15" name="flecha 1" descr="Flecha que indica el paso siguiente del fluj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845" y="3291840"/>
            <a:ext cx="274320" cy="274320"/>
          </a:xfrm>
          <a:prstGeom prst="rect">
            <a:avLst/>
          </a:prstGeom>
        </p:spPr>
      </p:pic>
      <p:sp>
        <p:nvSpPr>
          <p:cNvPr id="16" name="paso Seguimiento"/>
          <p:cNvSpPr/>
          <p:nvPr/>
        </p:nvSpPr>
        <p:spPr>
          <a:xfrm>
            <a:off x="4346326" y="1783080"/>
            <a:ext cx="1600200" cy="329184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ícono Seguimiento fondo"/>
          <p:cNvSpPr/>
          <p:nvPr/>
        </p:nvSpPr>
        <p:spPr>
          <a:xfrm>
            <a:off x="4666366" y="201168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ícono Seguimiento" descr="Ícono de ruta con punto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6396" y="2251710"/>
            <a:ext cx="480060" cy="48006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437766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Seguimiento</a:t>
            </a:r>
            <a:endParaRPr lang="en-US" sz="2000" dirty="0"/>
          </a:p>
        </p:txBody>
      </p:sp>
      <p:sp>
        <p:nvSpPr>
          <p:cNvPr id="20" name="Text 12"/>
          <p:cNvSpPr txBox="1"/>
          <p:nvPr/>
        </p:nvSpPr>
        <p:spPr>
          <a:xfrm>
            <a:off x="4456054" y="3840480"/>
            <a:ext cx="1380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</a:rPr>
              <a:t>Une a cada persona entre cuadros</a:t>
            </a:r>
            <a:endParaRPr lang="en-US" sz="1500" dirty="0"/>
          </a:p>
        </p:txBody>
      </p:sp>
      <p:pic>
        <p:nvPicPr>
          <p:cNvPr id="21" name="flecha 2" descr="Flecha que indica el paso siguiente del fluj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688" y="3291840"/>
            <a:ext cx="274320" cy="274320"/>
          </a:xfrm>
          <a:prstGeom prst="rect">
            <a:avLst/>
          </a:prstGeom>
        </p:spPr>
      </p:pic>
      <p:sp>
        <p:nvSpPr>
          <p:cNvPr id="22" name="paso Hallazgo"/>
          <p:cNvSpPr/>
          <p:nvPr/>
        </p:nvSpPr>
        <p:spPr>
          <a:xfrm>
            <a:off x="6245169" y="1783080"/>
            <a:ext cx="1600200" cy="329184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ícono Hallazgo fondo"/>
          <p:cNvSpPr/>
          <p:nvPr/>
        </p:nvSpPr>
        <p:spPr>
          <a:xfrm>
            <a:off x="6565209" y="201168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4" name="ícono Hallazgo" descr="Ícono de capas apilada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5239" y="2251710"/>
            <a:ext cx="480060" cy="48006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6336609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Hallazgo</a:t>
            </a:r>
            <a:endParaRPr lang="en-US" sz="2000" dirty="0"/>
          </a:p>
        </p:txBody>
      </p:sp>
      <p:sp>
        <p:nvSpPr>
          <p:cNvPr id="26" name="Text 16"/>
          <p:cNvSpPr txBox="1"/>
          <p:nvPr/>
        </p:nvSpPr>
        <p:spPr>
          <a:xfrm>
            <a:off x="6354897" y="3840480"/>
            <a:ext cx="1380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</a:rPr>
              <a:t>Inicio, término, zona y evidencia difuminada</a:t>
            </a:r>
            <a:endParaRPr lang="en-US" sz="1500" dirty="0"/>
          </a:p>
        </p:txBody>
      </p:sp>
      <p:pic>
        <p:nvPicPr>
          <p:cNvPr id="27" name="flecha 3" descr="Flecha que indica el paso siguiente del fluj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531" y="3291840"/>
            <a:ext cx="274320" cy="274320"/>
          </a:xfrm>
          <a:prstGeom prst="rect">
            <a:avLst/>
          </a:prstGeom>
        </p:spPr>
      </p:pic>
      <p:sp>
        <p:nvSpPr>
          <p:cNvPr id="28" name="paso Reglas"/>
          <p:cNvSpPr/>
          <p:nvPr/>
        </p:nvSpPr>
        <p:spPr>
          <a:xfrm>
            <a:off x="8144012" y="1783080"/>
            <a:ext cx="1600200" cy="329184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ícono Reglas fondo"/>
          <p:cNvSpPr/>
          <p:nvPr/>
        </p:nvSpPr>
        <p:spPr>
          <a:xfrm>
            <a:off x="8464052" y="2011680"/>
            <a:ext cx="960120" cy="96012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0" name="ícono Reglas" descr="Ícono de balanz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4082" y="2251710"/>
            <a:ext cx="480060" cy="48006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8235452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Reglas</a:t>
            </a:r>
            <a:endParaRPr lang="en-US" sz="2000" dirty="0"/>
          </a:p>
        </p:txBody>
      </p:sp>
      <p:sp>
        <p:nvSpPr>
          <p:cNvPr id="32" name="Text 20"/>
          <p:cNvSpPr txBox="1"/>
          <p:nvPr/>
        </p:nvSpPr>
        <p:spPr>
          <a:xfrm>
            <a:off x="8253740" y="3840480"/>
            <a:ext cx="1380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</a:rPr>
              <a:t>Zona, turno y severidad, en segundos</a:t>
            </a:r>
            <a:endParaRPr lang="en-US" sz="1500" dirty="0"/>
          </a:p>
        </p:txBody>
      </p:sp>
      <p:pic>
        <p:nvPicPr>
          <p:cNvPr id="33" name="flecha 4" descr="Flecha que indica el paso siguiente del fluj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6374" y="3291840"/>
            <a:ext cx="274320" cy="274320"/>
          </a:xfrm>
          <a:prstGeom prst="rect">
            <a:avLst/>
          </a:prstGeom>
        </p:spPr>
      </p:pic>
      <p:sp>
        <p:nvSpPr>
          <p:cNvPr id="34" name="paso Web y alertas"/>
          <p:cNvSpPr/>
          <p:nvPr/>
        </p:nvSpPr>
        <p:spPr>
          <a:xfrm>
            <a:off x="10042855" y="1783080"/>
            <a:ext cx="1600200" cy="329184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ícono Web y alertas fondo"/>
          <p:cNvSpPr/>
          <p:nvPr/>
        </p:nvSpPr>
        <p:spPr>
          <a:xfrm>
            <a:off x="10362895" y="2011680"/>
            <a:ext cx="960120" cy="96012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6" name="ícono Web y alertas" descr="Ícono de campan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2925" y="2251710"/>
            <a:ext cx="480060" cy="480060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10134295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Web y alertas</a:t>
            </a:r>
            <a:endParaRPr lang="en-US" sz="2000" dirty="0"/>
          </a:p>
        </p:txBody>
      </p:sp>
      <p:sp>
        <p:nvSpPr>
          <p:cNvPr id="38" name="Text 24"/>
          <p:cNvSpPr txBox="1"/>
          <p:nvPr/>
        </p:nvSpPr>
        <p:spPr>
          <a:xfrm>
            <a:off x="10152583" y="3840480"/>
            <a:ext cx="1380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</a:rPr>
              <a:t>Bandeja, visor, panel y aviso</a:t>
            </a:r>
            <a:endParaRPr lang="en-US" sz="1500" dirty="0"/>
          </a:p>
        </p:txBody>
      </p:sp>
      <p:sp>
        <p:nvSpPr>
          <p:cNvPr id="39" name="Text 25"/>
          <p:cNvSpPr txBox="1"/>
          <p:nvPr/>
        </p:nvSpPr>
        <p:spPr>
          <a:xfrm>
            <a:off x="548640" y="1280160"/>
            <a:ext cx="72967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Procesador de video (Python, en el servidor)</a:t>
            </a:r>
            <a:endParaRPr lang="en-US" sz="1600" dirty="0"/>
          </a:p>
        </p:txBody>
      </p:sp>
      <p:sp>
        <p:nvSpPr>
          <p:cNvPr id="40" name="Text 26"/>
          <p:cNvSpPr txBox="1"/>
          <p:nvPr/>
        </p:nvSpPr>
        <p:spPr>
          <a:xfrm>
            <a:off x="8144012" y="1280160"/>
            <a:ext cx="34990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Plataforma (FastAPI + React)</a:t>
            </a:r>
            <a:endParaRPr lang="en-US" sz="1600" dirty="0"/>
          </a:p>
        </p:txBody>
      </p:sp>
      <p:sp>
        <p:nvSpPr>
          <p:cNvPr id="41" name="tecnologías"/>
          <p:cNvSpPr/>
          <p:nvPr/>
        </p:nvSpPr>
        <p:spPr>
          <a:xfrm>
            <a:off x="548640" y="5349240"/>
            <a:ext cx="11094415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28"/>
          <p:cNvSpPr txBox="1"/>
          <p:nvPr/>
        </p:nvSpPr>
        <p:spPr>
          <a:xfrm>
            <a:off x="822960" y="53492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Tecnologías:  </a:t>
            </a:r>
            <a:r>
              <a:rPr lang="en-US" sz="1600" dirty="0">
                <a:solidFill>
                  <a:schemeClr val="bg1"/>
                </a:solidFill>
              </a:rPr>
              <a:t>Python 3.12 · FastAPI · PostgreSQL · Redis · RF-DETR (Apache-2.0) · ONNX en CPU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React + TypeScript · Docker · GitHub Actions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Cronograma: plan contra avance real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3383280" y="1417320"/>
            <a:ext cx="7508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S5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134169" y="1417320"/>
            <a:ext cx="7508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S6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885057" y="1417320"/>
            <a:ext cx="7508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S7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35946" y="1417320"/>
            <a:ext cx="7508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S8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86835" y="1417320"/>
            <a:ext cx="7508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S9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888612" y="1417320"/>
            <a:ext cx="7508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S11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39501" y="1417320"/>
            <a:ext cx="7508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S12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390389" y="1417320"/>
            <a:ext cx="7508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S13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141278" y="1417320"/>
            <a:ext cx="7508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S14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892167" y="1417320"/>
            <a:ext cx="7508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S15</a:t>
            </a:r>
            <a:endParaRPr lang="en-US" sz="1300" dirty="0"/>
          </a:p>
        </p:txBody>
      </p:sp>
      <p:sp>
        <p:nvSpPr>
          <p:cNvPr id="14" name="fila Base de datos"/>
          <p:cNvSpPr/>
          <p:nvPr/>
        </p:nvSpPr>
        <p:spPr>
          <a:xfrm>
            <a:off x="548640" y="1783080"/>
            <a:ext cx="11094415" cy="310896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 txBox="1"/>
          <p:nvPr/>
        </p:nvSpPr>
        <p:spPr>
          <a:xfrm>
            <a:off x="640080" y="1783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Base de datos</a:t>
            </a:r>
            <a:endParaRPr lang="en-US" sz="1400" dirty="0"/>
          </a:p>
        </p:txBody>
      </p:sp>
      <p:sp>
        <p:nvSpPr>
          <p:cNvPr id="16" name="barra Base de datos"/>
          <p:cNvSpPr/>
          <p:nvPr/>
        </p:nvSpPr>
        <p:spPr>
          <a:xfrm>
            <a:off x="3438144" y="1837944"/>
            <a:ext cx="641161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 txBox="1"/>
          <p:nvPr/>
        </p:nvSpPr>
        <p:spPr>
          <a:xfrm>
            <a:off x="640080" y="20939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Grabación en obra</a:t>
            </a:r>
            <a:endParaRPr lang="en-US" sz="1400" dirty="0"/>
          </a:p>
        </p:txBody>
      </p:sp>
      <p:sp>
        <p:nvSpPr>
          <p:cNvPr id="18" name="barra Grabación en obra"/>
          <p:cNvSpPr/>
          <p:nvPr/>
        </p:nvSpPr>
        <p:spPr>
          <a:xfrm>
            <a:off x="3438144" y="2148840"/>
            <a:ext cx="641161" cy="201168"/>
          </a:xfrm>
          <a:prstGeom prst="roundRect">
            <a:avLst>
              <a:gd name="adj" fmla="val 2272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fila Etiquetado"/>
          <p:cNvSpPr/>
          <p:nvPr/>
        </p:nvSpPr>
        <p:spPr>
          <a:xfrm>
            <a:off x="548640" y="2404872"/>
            <a:ext cx="11094415" cy="310896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 txBox="1"/>
          <p:nvPr/>
        </p:nvSpPr>
        <p:spPr>
          <a:xfrm>
            <a:off x="640080" y="24048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Etiquetado</a:t>
            </a:r>
            <a:endParaRPr lang="en-US" sz="1400" dirty="0"/>
          </a:p>
        </p:txBody>
      </p:sp>
      <p:sp>
        <p:nvSpPr>
          <p:cNvPr id="21" name="barra Etiquetado"/>
          <p:cNvSpPr/>
          <p:nvPr/>
        </p:nvSpPr>
        <p:spPr>
          <a:xfrm>
            <a:off x="4189033" y="2459736"/>
            <a:ext cx="2142938" cy="201168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 txBox="1"/>
          <p:nvPr/>
        </p:nvSpPr>
        <p:spPr>
          <a:xfrm>
            <a:off x="640080" y="27157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Bandeja y visor</a:t>
            </a:r>
            <a:endParaRPr lang="en-US" sz="1400" dirty="0"/>
          </a:p>
        </p:txBody>
      </p:sp>
      <p:sp>
        <p:nvSpPr>
          <p:cNvPr id="23" name="barra Bandeja y visor"/>
          <p:cNvSpPr/>
          <p:nvPr/>
        </p:nvSpPr>
        <p:spPr>
          <a:xfrm>
            <a:off x="3438144" y="2770632"/>
            <a:ext cx="2142938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fila Ingesta y procesamiento"/>
          <p:cNvSpPr/>
          <p:nvPr/>
        </p:nvSpPr>
        <p:spPr>
          <a:xfrm>
            <a:off x="548640" y="3026664"/>
            <a:ext cx="11094415" cy="310896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 txBox="1"/>
          <p:nvPr/>
        </p:nvSpPr>
        <p:spPr>
          <a:xfrm>
            <a:off x="640080" y="30266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Ingesta y procesamiento</a:t>
            </a:r>
            <a:endParaRPr lang="en-US" sz="1400" dirty="0"/>
          </a:p>
        </p:txBody>
      </p:sp>
      <p:sp>
        <p:nvSpPr>
          <p:cNvPr id="26" name="barra Ingesta y procesamiento"/>
          <p:cNvSpPr/>
          <p:nvPr/>
        </p:nvSpPr>
        <p:spPr>
          <a:xfrm>
            <a:off x="4939921" y="3081528"/>
            <a:ext cx="641161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 txBox="1"/>
          <p:nvPr/>
        </p:nvSpPr>
        <p:spPr>
          <a:xfrm>
            <a:off x="640080" y="33375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Primer modelo</a:t>
            </a:r>
            <a:endParaRPr lang="en-US" sz="1400" dirty="0"/>
          </a:p>
        </p:txBody>
      </p:sp>
      <p:sp>
        <p:nvSpPr>
          <p:cNvPr id="28" name="barra Primer modelo"/>
          <p:cNvSpPr/>
          <p:nvPr/>
        </p:nvSpPr>
        <p:spPr>
          <a:xfrm>
            <a:off x="5690810" y="3392424"/>
            <a:ext cx="641161" cy="201168"/>
          </a:xfrm>
          <a:prstGeom prst="roundRect">
            <a:avLst>
              <a:gd name="adj" fmla="val 22727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fila Integración (H2)"/>
          <p:cNvSpPr/>
          <p:nvPr/>
        </p:nvSpPr>
        <p:spPr>
          <a:xfrm>
            <a:off x="548640" y="3648456"/>
            <a:ext cx="11094415" cy="310896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 txBox="1"/>
          <p:nvPr/>
        </p:nvSpPr>
        <p:spPr>
          <a:xfrm>
            <a:off x="640080" y="36484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Integración (H2)</a:t>
            </a:r>
            <a:endParaRPr lang="en-US" sz="1400" dirty="0"/>
          </a:p>
        </p:txBody>
      </p:sp>
      <p:sp>
        <p:nvSpPr>
          <p:cNvPr id="31" name="barra Integración (H2)"/>
          <p:cNvSpPr/>
          <p:nvPr/>
        </p:nvSpPr>
        <p:spPr>
          <a:xfrm>
            <a:off x="6441699" y="3703320"/>
            <a:ext cx="641161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 txBox="1"/>
          <p:nvPr/>
        </p:nvSpPr>
        <p:spPr>
          <a:xfrm>
            <a:off x="640080" y="3959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Informe de avance (H3)</a:t>
            </a:r>
            <a:endParaRPr lang="en-US" sz="1400" dirty="0"/>
          </a:p>
        </p:txBody>
      </p:sp>
      <p:sp>
        <p:nvSpPr>
          <p:cNvPr id="33" name="barra Informe de avance (H3)"/>
          <p:cNvSpPr/>
          <p:nvPr/>
        </p:nvSpPr>
        <p:spPr>
          <a:xfrm>
            <a:off x="7192587" y="4014216"/>
            <a:ext cx="641161" cy="201168"/>
          </a:xfrm>
          <a:prstGeom prst="roundRect">
            <a:avLst>
              <a:gd name="adj" fmla="val 2272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fila Motor de reglas y pantalla"/>
          <p:cNvSpPr/>
          <p:nvPr/>
        </p:nvSpPr>
        <p:spPr>
          <a:xfrm>
            <a:off x="548640" y="4270248"/>
            <a:ext cx="11094415" cy="310896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 txBox="1"/>
          <p:nvPr/>
        </p:nvSpPr>
        <p:spPr>
          <a:xfrm>
            <a:off x="640080" y="4270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Motor de reglas y pantalla</a:t>
            </a:r>
            <a:endParaRPr lang="en-US" sz="1400" dirty="0"/>
          </a:p>
        </p:txBody>
      </p:sp>
      <p:sp>
        <p:nvSpPr>
          <p:cNvPr id="36" name="barra Motor de reglas y pantalla"/>
          <p:cNvSpPr/>
          <p:nvPr/>
        </p:nvSpPr>
        <p:spPr>
          <a:xfrm>
            <a:off x="7943476" y="4325112"/>
            <a:ext cx="641161" cy="201168"/>
          </a:xfrm>
          <a:prstGeom prst="roundRect">
            <a:avLst>
              <a:gd name="adj" fmla="val 22727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7" name="Text 34"/>
          <p:cNvSpPr txBox="1"/>
          <p:nvPr/>
        </p:nvSpPr>
        <p:spPr>
          <a:xfrm>
            <a:off x="640080" y="45811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Alertas</a:t>
            </a:r>
            <a:endParaRPr lang="en-US" sz="1400" dirty="0"/>
          </a:p>
        </p:txBody>
      </p:sp>
      <p:sp>
        <p:nvSpPr>
          <p:cNvPr id="38" name="barra Alertas"/>
          <p:cNvSpPr/>
          <p:nvPr/>
        </p:nvSpPr>
        <p:spPr>
          <a:xfrm>
            <a:off x="8694365" y="4636008"/>
            <a:ext cx="641161" cy="201168"/>
          </a:xfrm>
          <a:prstGeom prst="roundRect">
            <a:avLst>
              <a:gd name="adj" fmla="val 2272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9" name="fila Analítica y reportes"/>
          <p:cNvSpPr/>
          <p:nvPr/>
        </p:nvSpPr>
        <p:spPr>
          <a:xfrm>
            <a:off x="548640" y="4892040"/>
            <a:ext cx="11094415" cy="310896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Text 37"/>
          <p:cNvSpPr txBox="1"/>
          <p:nvPr/>
        </p:nvSpPr>
        <p:spPr>
          <a:xfrm>
            <a:off x="640080" y="48920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Analítica y reportes</a:t>
            </a:r>
            <a:endParaRPr lang="en-US" sz="1400" dirty="0"/>
          </a:p>
        </p:txBody>
      </p:sp>
      <p:sp>
        <p:nvSpPr>
          <p:cNvPr id="41" name="barra Analítica y reportes"/>
          <p:cNvSpPr/>
          <p:nvPr/>
        </p:nvSpPr>
        <p:spPr>
          <a:xfrm>
            <a:off x="8694365" y="4946904"/>
            <a:ext cx="1392049" cy="201168"/>
          </a:xfrm>
          <a:prstGeom prst="roundRect">
            <a:avLst>
              <a:gd name="adj" fmla="val 2272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39"/>
          <p:cNvSpPr txBox="1"/>
          <p:nvPr/>
        </p:nvSpPr>
        <p:spPr>
          <a:xfrm>
            <a:off x="640080" y="52029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Pruebas y endurecimiento</a:t>
            </a:r>
            <a:endParaRPr lang="en-US" sz="1400" dirty="0"/>
          </a:p>
        </p:txBody>
      </p:sp>
      <p:sp>
        <p:nvSpPr>
          <p:cNvPr id="43" name="barra Pruebas y endurecimiento"/>
          <p:cNvSpPr/>
          <p:nvPr/>
        </p:nvSpPr>
        <p:spPr>
          <a:xfrm>
            <a:off x="10196142" y="5257800"/>
            <a:ext cx="641161" cy="201168"/>
          </a:xfrm>
          <a:prstGeom prst="roundRect">
            <a:avLst>
              <a:gd name="adj" fmla="val 2272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4" name="fila Versión 1.0 (H4)"/>
          <p:cNvSpPr/>
          <p:nvPr/>
        </p:nvSpPr>
        <p:spPr>
          <a:xfrm>
            <a:off x="548640" y="5513832"/>
            <a:ext cx="11094415" cy="310896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5" name="Text 42"/>
          <p:cNvSpPr txBox="1"/>
          <p:nvPr/>
        </p:nvSpPr>
        <p:spPr>
          <a:xfrm>
            <a:off x="640080" y="55138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Versión 1.0 (H4)</a:t>
            </a:r>
            <a:endParaRPr lang="en-US" sz="1400" dirty="0"/>
          </a:p>
        </p:txBody>
      </p:sp>
      <p:sp>
        <p:nvSpPr>
          <p:cNvPr id="46" name="barra Versión 1.0 (H4)"/>
          <p:cNvSpPr/>
          <p:nvPr/>
        </p:nvSpPr>
        <p:spPr>
          <a:xfrm>
            <a:off x="10947031" y="5568696"/>
            <a:ext cx="641161" cy="201168"/>
          </a:xfrm>
          <a:prstGeom prst="roundRect">
            <a:avLst>
              <a:gd name="adj" fmla="val 22727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7" name="hoy"/>
          <p:cNvSpPr/>
          <p:nvPr/>
        </p:nvSpPr>
        <p:spPr>
          <a:xfrm>
            <a:off x="7513168" y="1764792"/>
            <a:ext cx="0" cy="4096512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48" name="etiqueta hoy"/>
          <p:cNvSpPr txBox="1"/>
          <p:nvPr/>
        </p:nvSpPr>
        <p:spPr>
          <a:xfrm>
            <a:off x="7010248" y="1399032"/>
            <a:ext cx="100584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S10 · hoy</a:t>
            </a:r>
            <a:endParaRPr lang="en-US" sz="1200" dirty="0"/>
          </a:p>
        </p:txBody>
      </p:sp>
      <p:sp>
        <p:nvSpPr>
          <p:cNvPr id="49" name="estado Completado"/>
          <p:cNvSpPr txBox="1"/>
          <p:nvPr/>
        </p:nvSpPr>
        <p:spPr>
          <a:xfrm>
            <a:off x="548640" y="5943600"/>
            <a:ext cx="1325880" cy="310896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Completado</a:t>
            </a:r>
            <a:endParaRPr lang="en-US" sz="1200" dirty="0"/>
          </a:p>
        </p:txBody>
      </p:sp>
      <p:sp>
        <p:nvSpPr>
          <p:cNvPr id="50" name="estado En curso"/>
          <p:cNvSpPr txBox="1"/>
          <p:nvPr/>
        </p:nvSpPr>
        <p:spPr>
          <a:xfrm>
            <a:off x="2011680" y="5943600"/>
            <a:ext cx="1325880" cy="310896"/>
          </a:xfrm>
          <a:prstGeom prst="roundRect">
            <a:avLst>
              <a:gd name="adj" fmla="val 23529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En curso</a:t>
            </a:r>
            <a:endParaRPr lang="en-US" sz="1200" dirty="0"/>
          </a:p>
        </p:txBody>
      </p:sp>
      <p:sp>
        <p:nvSpPr>
          <p:cNvPr id="51" name="estado Con retraso"/>
          <p:cNvSpPr txBox="1"/>
          <p:nvPr/>
        </p:nvSpPr>
        <p:spPr>
          <a:xfrm>
            <a:off x="3474720" y="5943600"/>
            <a:ext cx="1325880" cy="310896"/>
          </a:xfrm>
          <a:prstGeom prst="roundRect">
            <a:avLst>
              <a:gd name="adj" fmla="val 2352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Con retraso</a:t>
            </a:r>
            <a:endParaRPr lang="en-US" sz="1200" dirty="0"/>
          </a:p>
        </p:txBody>
      </p:sp>
      <p:sp>
        <p:nvSpPr>
          <p:cNvPr id="52" name="estado Ajustado"/>
          <p:cNvSpPr txBox="1"/>
          <p:nvPr/>
        </p:nvSpPr>
        <p:spPr>
          <a:xfrm>
            <a:off x="4937760" y="5943600"/>
            <a:ext cx="1325880" cy="310896"/>
          </a:xfrm>
          <a:prstGeom prst="roundRect">
            <a:avLst>
              <a:gd name="adj" fmla="val 2352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Ajustado</a:t>
            </a:r>
            <a:endParaRPr lang="en-US" sz="1200" dirty="0"/>
          </a:p>
        </p:txBody>
      </p:sp>
      <p:sp>
        <p:nvSpPr>
          <p:cNvPr id="53" name="estado No iniciado"/>
          <p:cNvSpPr txBox="1"/>
          <p:nvPr/>
        </p:nvSpPr>
        <p:spPr>
          <a:xfrm>
            <a:off x="6400800" y="5943600"/>
            <a:ext cx="1325880" cy="310896"/>
          </a:xfrm>
          <a:prstGeom prst="roundRect">
            <a:avLst>
              <a:gd name="adj" fmla="val 23529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No iniciado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y modelo</a:t>
            </a:r>
            <a:endParaRPr lang="en-US" sz="3200" dirty="0"/>
          </a:p>
        </p:txBody>
      </p:sp>
      <p:graphicFrame>
        <p:nvGraphicFramePr>
          <p:cNvPr id="4" name="gráfico cajas por clase"/>
          <p:cNvGraphicFramePr/>
          <p:nvPr/>
        </p:nvGraphicFramePr>
        <p:xfrm>
          <a:off x="548640" y="1325880"/>
          <a:ext cx="539496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arjeta Etiquetado en CVAT"/>
          <p:cNvSpPr/>
          <p:nvPr/>
        </p:nvSpPr>
        <p:spPr>
          <a:xfrm>
            <a:off x="6263640" y="1371600"/>
            <a:ext cx="537941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ícono Etiquetado en CVAT fondo"/>
          <p:cNvSpPr/>
          <p:nvPr/>
        </p:nvSpPr>
        <p:spPr>
          <a:xfrm>
            <a:off x="649224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ícono Etiquetado en CVAT" descr="Ícono de etiquet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874520"/>
            <a:ext cx="365760" cy="3657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740664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Etiquetado en CVAT</a:t>
            </a:r>
            <a:endParaRPr lang="en-US" sz="1800" dirty="0"/>
          </a:p>
        </p:txBody>
      </p:sp>
      <p:sp>
        <p:nvSpPr>
          <p:cNvPr id="9" name="Text 4"/>
          <p:cNvSpPr txBox="1"/>
          <p:nvPr/>
        </p:nvSpPr>
        <p:spPr>
          <a:xfrm>
            <a:off x="7406640" y="190195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Pre-etiquetado por el modelo, corregido por el equipo y revisado con un script que aplica la guía.</a:t>
            </a:r>
            <a:endParaRPr lang="en-US" sz="1400" dirty="0"/>
          </a:p>
        </p:txBody>
      </p:sp>
      <p:sp>
        <p:nvSpPr>
          <p:cNvPr id="10" name="tarjeta Modelo v1: RF-DETR Nano"/>
          <p:cNvSpPr/>
          <p:nvPr/>
        </p:nvSpPr>
        <p:spPr>
          <a:xfrm>
            <a:off x="6263640" y="2926080"/>
            <a:ext cx="537941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ícono Modelo v1: RF-DETR Nano fondo"/>
          <p:cNvSpPr/>
          <p:nvPr/>
        </p:nvSpPr>
        <p:spPr>
          <a:xfrm>
            <a:off x="6492240" y="3246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ícono Modelo v1: RF-DETR Nano" descr="Ícono de microprocesado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429000"/>
            <a:ext cx="365760" cy="36576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40664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Modelo v1: RF-DETR Nano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7406640" y="345643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mAP50 de 0,810 en la validación pública. Sirve para elegir el modelo; no es la métrica del proyecto.</a:t>
            </a:r>
            <a:endParaRPr lang="en-US" sz="1400" dirty="0"/>
          </a:p>
        </p:txBody>
      </p:sp>
      <p:sp>
        <p:nvSpPr>
          <p:cNvPr id="15" name="tarjeta Lo que falta"/>
          <p:cNvSpPr/>
          <p:nvPr/>
        </p:nvSpPr>
        <p:spPr>
          <a:xfrm>
            <a:off x="6263640" y="4480560"/>
            <a:ext cx="5379415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ícono Lo que falta fondo"/>
          <p:cNvSpPr/>
          <p:nvPr/>
        </p:nvSpPr>
        <p:spPr>
          <a:xfrm>
            <a:off x="6492240" y="48006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7" name="ícono Lo que falta" descr="Ícono de matraz de laboratori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98348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40664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 que falta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7406640" y="501091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Métrica sobre el video de prueba y acuerdo entre etiquetadores (kappa de Cohen).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Demostración: del video al hallazgo</a:t>
            </a:r>
            <a:endParaRPr lang="en-US" sz="3200" dirty="0"/>
          </a:p>
        </p:txBody>
      </p:sp>
      <p:pic>
        <p:nvPicPr>
          <p:cNvPr id="4" name="captura visor" descr="Captura del visor de evidencia de un hallazgo: persona con el rostro pixelado, línea de tiempo del evento y botones para confirmar o descart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8255" y="1280160"/>
            <a:ext cx="4114800" cy="4356847"/>
          </a:xfrm>
          <a:prstGeom prst="rect">
            <a:avLst/>
          </a:prstGeom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5" name="paso demo 1"/>
          <p:cNvSpPr txBox="1"/>
          <p:nvPr/>
        </p:nvSpPr>
        <p:spPr>
          <a:xfrm>
            <a:off x="548640" y="123444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2"/>
          <p:cNvSpPr txBox="1"/>
          <p:nvPr/>
        </p:nvSpPr>
        <p:spPr>
          <a:xfrm>
            <a:off x="1234440" y="1197864"/>
            <a:ext cx="6019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Se pide el video desde la web, eligiendo la cámara</a:t>
            </a:r>
            <a:endParaRPr lang="en-US" sz="1800" dirty="0"/>
          </a:p>
        </p:txBody>
      </p:sp>
      <p:sp>
        <p:nvSpPr>
          <p:cNvPr id="7" name="paso demo 2"/>
          <p:cNvSpPr txBox="1"/>
          <p:nvPr/>
        </p:nvSpPr>
        <p:spPr>
          <a:xfrm>
            <a:off x="548640" y="17830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234440" y="1755130"/>
            <a:ext cx="6019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El modelo lo procesa en CPU, con vista en vivo</a:t>
            </a:r>
            <a:endParaRPr lang="en-US" sz="1800" dirty="0"/>
          </a:p>
        </p:txBody>
      </p:sp>
      <p:sp>
        <p:nvSpPr>
          <p:cNvPr id="9" name="paso demo 3"/>
          <p:cNvSpPr txBox="1"/>
          <p:nvPr/>
        </p:nvSpPr>
        <p:spPr>
          <a:xfrm>
            <a:off x="548640" y="233172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2295144"/>
            <a:ext cx="6019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El hallazgo llega a la bandeja con la evidencia difuminada</a:t>
            </a:r>
            <a:endParaRPr lang="en-US" sz="1800" dirty="0"/>
          </a:p>
        </p:txBody>
      </p:sp>
      <p:sp>
        <p:nvSpPr>
          <p:cNvPr id="11" name="paso demo 4"/>
          <p:cNvSpPr txBox="1"/>
          <p:nvPr/>
        </p:nvSpPr>
        <p:spPr>
          <a:xfrm>
            <a:off x="548640" y="288036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2843784"/>
            <a:ext cx="6019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El prevencionista confirma o descarta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6114403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Vista en vivo: el modelo marca personas, cascos y chalecos mientras procesa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257800" y="3566160"/>
            <a:ext cx="199613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 min de video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 232 s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 85 hallazgos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Prueba del 9 de octubre, con el modelo en CPU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528255" y="5728447"/>
            <a:ext cx="41148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Visor (demo, detector simulado): el rostro se difumina antes de guardarse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26" name="captura vista en vivo" descr="Captura de la vista en vivo del procesamiento: cuadro de la obra con cajas de persona y casco sobre dos trabajadores, con los rostros tapad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67" y="3523101"/>
            <a:ext cx="4128114" cy="2337550"/>
          </a:xfrm>
          <a:prstGeom prst="rect">
            <a:avLst/>
          </a:prstGeom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al plan y por qué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150876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accent4"/>
                </a:solidFill>
              </a:rPr>
              <a:t>ANTES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84632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accent4"/>
                </a:solidFill>
              </a:rPr>
              <a:t>AHORA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accent4"/>
                </a:solidFill>
              </a:rPr>
              <a:t>POR QUÉ</a:t>
            </a:r>
            <a:endParaRPr lang="en-US" sz="1300" dirty="0"/>
          </a:p>
        </p:txBody>
      </p:sp>
      <p:sp>
        <p:nvSpPr>
          <p:cNvPr id="7" name="ajuste Grabación en obra"/>
          <p:cNvSpPr/>
          <p:nvPr/>
        </p:nvSpPr>
        <p:spPr>
          <a:xfrm>
            <a:off x="548640" y="1600200"/>
            <a:ext cx="11094415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ícono Grabación en obra fondo"/>
          <p:cNvSpPr/>
          <p:nvPr/>
        </p:nvSpPr>
        <p:spPr>
          <a:xfrm>
            <a:off x="731520" y="1728216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ícono Grabación en obra" descr="Ícono de cámara de vide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88236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1600200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strike="sngStrike" dirty="0">
                <a:solidFill>
                  <a:schemeClr val="accent4"/>
                </a:solidFill>
              </a:rPr>
              <a:t>Grabación en obra</a:t>
            </a:r>
            <a:endParaRPr lang="en-US" sz="1500" dirty="0"/>
          </a:p>
        </p:txBody>
      </p:sp>
      <p:pic>
        <p:nvPicPr>
          <p:cNvPr id="11" name="flecha ajuste 0" descr="Flecha que lleva del plan anterior al ajus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87452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46320" y="1600200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Video público de CCTV, solo para prueba y demo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8641080" y="1600200"/>
            <a:ext cx="28190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Por tiempo, y porque no era necesaria para el producto mínimo viable</a:t>
            </a:r>
            <a:endParaRPr lang="en-US" sz="1400" dirty="0"/>
          </a:p>
        </p:txBody>
      </p:sp>
      <p:sp>
        <p:nvSpPr>
          <p:cNvPr id="14" name="ajuste Tres rondas de etiquetado"/>
          <p:cNvSpPr/>
          <p:nvPr/>
        </p:nvSpPr>
        <p:spPr>
          <a:xfrm>
            <a:off x="548640" y="2587752"/>
            <a:ext cx="11094415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ícono Tres rondas de etiquetado fondo"/>
          <p:cNvSpPr/>
          <p:nvPr/>
        </p:nvSpPr>
        <p:spPr>
          <a:xfrm>
            <a:off x="731520" y="2715768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ícono Tres rondas de etiquetado" descr="Ícono de etiqueta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2875788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2587752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strike="sngStrike" dirty="0">
                <a:solidFill>
                  <a:schemeClr val="accent4"/>
                </a:solidFill>
              </a:rPr>
              <a:t>Tres rondas de etiquetado</a:t>
            </a:r>
            <a:endParaRPr lang="en-US" sz="1500" dirty="0"/>
          </a:p>
        </p:txBody>
      </p:sp>
      <p:pic>
        <p:nvPicPr>
          <p:cNvPr id="18" name="flecha ajuste 1" descr="Flecha que lleva del plan anterior al ajus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2862072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846320" y="2587752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240 cuadros pre-etiquetados y revisados con script</a:t>
            </a:r>
            <a:endParaRPr lang="en-US" sz="1800" dirty="0"/>
          </a:p>
        </p:txBody>
      </p:sp>
      <p:sp>
        <p:nvSpPr>
          <p:cNvPr id="20" name="Text 13"/>
          <p:cNvSpPr txBox="1"/>
          <p:nvPr/>
        </p:nvSpPr>
        <p:spPr>
          <a:xfrm>
            <a:off x="8641080" y="2587752"/>
            <a:ext cx="28190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Sin grabación propia, el etiquetado sirve para evaluar</a:t>
            </a:r>
            <a:endParaRPr lang="en-US" sz="1400" dirty="0"/>
          </a:p>
        </p:txBody>
      </p:sp>
      <p:sp>
        <p:nvSpPr>
          <p:cNvPr id="21" name="ajuste Video solo por carpeta vigilada"/>
          <p:cNvSpPr/>
          <p:nvPr/>
        </p:nvSpPr>
        <p:spPr>
          <a:xfrm>
            <a:off x="548640" y="3575304"/>
            <a:ext cx="11094415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ícono Video solo por carpeta vigilada fondo"/>
          <p:cNvSpPr/>
          <p:nvPr/>
        </p:nvSpPr>
        <p:spPr>
          <a:xfrm>
            <a:off x="731520" y="37033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ícono Video solo por carpeta vigilada" descr="Ícono de monito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3863340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508760" y="3575304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strike="sngStrike" dirty="0">
                <a:solidFill>
                  <a:schemeClr val="accent4"/>
                </a:solidFill>
              </a:rPr>
              <a:t>Video solo por carpeta vigilada</a:t>
            </a:r>
            <a:endParaRPr lang="en-US" sz="1500" dirty="0"/>
          </a:p>
        </p:txBody>
      </p:sp>
      <p:pic>
        <p:nvPicPr>
          <p:cNvPr id="25" name="flecha ajuste 2" descr="Flecha que lleva del plan anterior al ajus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849624"/>
            <a:ext cx="347472" cy="34747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4846320" y="3575304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Pedido desde la web, con vista en vivo</a:t>
            </a:r>
            <a:endParaRPr lang="en-US" sz="1800" dirty="0"/>
          </a:p>
        </p:txBody>
      </p:sp>
      <p:sp>
        <p:nvSpPr>
          <p:cNvPr id="27" name="Text 18"/>
          <p:cNvSpPr txBox="1"/>
          <p:nvPr/>
        </p:nvSpPr>
        <p:spPr>
          <a:xfrm>
            <a:off x="8641080" y="3575304"/>
            <a:ext cx="28190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Antes se procesaba una sola cámara copiando archivos</a:t>
            </a:r>
            <a:endParaRPr lang="en-US" sz="1400" dirty="0"/>
          </a:p>
        </p:txBody>
      </p:sp>
      <p:sp>
        <p:nvSpPr>
          <p:cNvPr id="28" name="ajuste Calendario corrido una semana"/>
          <p:cNvSpPr/>
          <p:nvPr/>
        </p:nvSpPr>
        <p:spPr>
          <a:xfrm>
            <a:off x="548640" y="4562856"/>
            <a:ext cx="11094415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ícono Calendario corrido una semana fondo"/>
          <p:cNvSpPr/>
          <p:nvPr/>
        </p:nvSpPr>
        <p:spPr>
          <a:xfrm>
            <a:off x="731520" y="4690872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0" name="ícono Calendario corrido una semana" descr="Ícono de calendario con marca de verificació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" y="4850892"/>
            <a:ext cx="320040" cy="32004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508760" y="4562856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strike="sngStrike" dirty="0">
                <a:solidFill>
                  <a:schemeClr val="accent4"/>
                </a:solidFill>
              </a:rPr>
              <a:t>Calendario corrido una semana</a:t>
            </a:r>
            <a:endParaRPr lang="en-US" sz="1500" dirty="0"/>
          </a:p>
        </p:txBody>
      </p:sp>
      <p:pic>
        <p:nvPicPr>
          <p:cNvPr id="32" name="flecha ajuste 3" descr="Flecha que lleva del plan anterior al ajus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4837176"/>
            <a:ext cx="347472" cy="347472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4846320" y="4562856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Corregido el 7 de octubre</a:t>
            </a:r>
            <a:endParaRPr lang="en-US" sz="1800" dirty="0"/>
          </a:p>
        </p:txBody>
      </p:sp>
      <p:sp>
        <p:nvSpPr>
          <p:cNvPr id="34" name="Text 23"/>
          <p:cNvSpPr txBox="1"/>
          <p:nvPr/>
        </p:nvSpPr>
        <p:spPr>
          <a:xfrm>
            <a:off x="8641080" y="4562856"/>
            <a:ext cx="28190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Sin mover paquetes de trabajo; se absorbió en S9 y S10</a:t>
            </a:r>
            <a:endParaRPr lang="en-US" sz="1400" dirty="0"/>
          </a:p>
        </p:txBody>
      </p:sp>
      <p:sp>
        <p:nvSpPr>
          <p:cNvPr id="35" name="retroalimentación"/>
          <p:cNvSpPr/>
          <p:nvPr/>
        </p:nvSpPr>
        <p:spPr>
          <a:xfrm>
            <a:off x="548640" y="5669280"/>
            <a:ext cx="11094415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25"/>
          <p:cNvSpPr txBox="1"/>
          <p:nvPr/>
        </p:nvSpPr>
        <p:spPr>
          <a:xfrm>
            <a:off x="822960" y="566928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Retroalimentación de la Fase 1 (nota 6,6): </a:t>
            </a:r>
            <a:r>
              <a:rPr lang="en-US" sz="1600" dirty="0">
                <a:solidFill>
                  <a:schemeClr val="bg1"/>
                </a:solidFill>
              </a:rPr>
              <a:t>mejorar el diseño de la presentación. Esta presentación es la respuesta.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de trabajo</a:t>
            </a:r>
            <a:endParaRPr lang="en-US" sz="3200" dirty="0"/>
          </a:p>
        </p:txBody>
      </p:sp>
      <p:sp>
        <p:nvSpPr>
          <p:cNvPr id="4" name="panel iterativa"/>
          <p:cNvSpPr/>
          <p:nvPr/>
        </p:nvSpPr>
        <p:spPr>
          <a:xfrm>
            <a:off x="548640" y="1371600"/>
            <a:ext cx="3383280" cy="4114800"/>
          </a:xfrm>
          <a:prstGeom prst="roundRect">
            <a:avLst>
              <a:gd name="adj" fmla="val 216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ícono iterativa fondo"/>
          <p:cNvSpPr/>
          <p:nvPr/>
        </p:nvSpPr>
        <p:spPr>
          <a:xfrm>
            <a:off x="914400" y="17373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ícono iterativa" descr="Ícono de flechas circulares, para el ciclo iterativ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19888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4400" y="3017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Iterativa e incremental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40233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En ciclos semanales: primero todo conectado, después se mejora cada parte.</a:t>
            </a:r>
            <a:endParaRPr lang="en-US" sz="1600" dirty="0"/>
          </a:p>
        </p:txBody>
      </p:sp>
      <p:sp>
        <p:nvSpPr>
          <p:cNvPr id="9" name="ícono Gestión fondo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0" name="ícono Gestión" descr="Ícono de lista de tare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0020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20640" y="13990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Gestión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512064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Un issue por tarea y una decisión de arquitectura (ADR) por cada decisión de fondo</a:t>
            </a:r>
            <a:endParaRPr lang="en-US" sz="1500" dirty="0"/>
          </a:p>
        </p:txBody>
      </p:sp>
      <p:sp>
        <p:nvSpPr>
          <p:cNvPr id="13" name="ícono Contrato de API congelado fondo"/>
          <p:cNvSpPr/>
          <p:nvPr/>
        </p:nvSpPr>
        <p:spPr>
          <a:xfrm>
            <a:off x="8046720" y="14173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4" name="ícono Contrato de API congelado" descr="Ícono de documento con contrat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60020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61120" y="13990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Contrato de API congelado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8961120" y="17830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La web avanzó desde la S5 sin esperar al servidor</a:t>
            </a:r>
            <a:endParaRPr lang="en-US" sz="1500" dirty="0"/>
          </a:p>
        </p:txBody>
      </p:sp>
      <p:sp>
        <p:nvSpPr>
          <p:cNvPr id="17" name="ícono Integración continua fondo"/>
          <p:cNvSpPr/>
          <p:nvPr/>
        </p:nvSpPr>
        <p:spPr>
          <a:xfrm>
            <a:off x="4206240" y="2834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8" name="ícono Integración continua" descr="Ícono de ramas de códi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301752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120640" y="28163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Integración continua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5120640" y="32004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Nada entra sin PR, pruebas, tipos y revisión de licencias</a:t>
            </a:r>
            <a:endParaRPr lang="en-US" sz="1500" dirty="0"/>
          </a:p>
        </p:txBody>
      </p:sp>
      <p:sp>
        <p:nvSpPr>
          <p:cNvPr id="21" name="ícono Evaluación honesta fondo"/>
          <p:cNvSpPr/>
          <p:nvPr/>
        </p:nvSpPr>
        <p:spPr>
          <a:xfrm>
            <a:off x="8046720" y="2834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2" name="ícono Evaluación honesta" descr="Ícono de matraz de laboratori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01752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961120" y="28163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Evaluación honesta</a:t>
            </a:r>
            <a:endParaRPr lang="en-US" sz="1700" dirty="0"/>
          </a:p>
        </p:txBody>
      </p:sp>
      <p:sp>
        <p:nvSpPr>
          <p:cNvPr id="24" name="Text 16"/>
          <p:cNvSpPr txBox="1"/>
          <p:nvPr/>
        </p:nvSpPr>
        <p:spPr>
          <a:xfrm>
            <a:off x="8961120" y="32004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El video de prueba nunca se usa para entrenar</a:t>
            </a:r>
            <a:endParaRPr lang="en-US" sz="1500" dirty="0"/>
          </a:p>
        </p:txBody>
      </p:sp>
      <p:sp>
        <p:nvSpPr>
          <p:cNvPr id="25" name="ícono Verificaciones con fecha fondo"/>
          <p:cNvSpPr/>
          <p:nvPr/>
        </p:nvSpPr>
        <p:spPr>
          <a:xfrm>
            <a:off x="4206240" y="42519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6" name="ícono Verificaciones con fecha" descr="Ícono de calendario con marca de verificació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0" y="4434840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120640" y="42336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Verificaciones con fecha</a:t>
            </a:r>
            <a:endParaRPr lang="en-US" sz="1700" dirty="0"/>
          </a:p>
        </p:txBody>
      </p:sp>
      <p:sp>
        <p:nvSpPr>
          <p:cNvPr id="28" name="Text 19"/>
          <p:cNvSpPr txBox="1"/>
          <p:nvPr/>
        </p:nvSpPr>
        <p:spPr>
          <a:xfrm>
            <a:off x="5120640" y="46177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Los supuestos riesgosos se prueban antes de comprometerse</a:t>
            </a:r>
            <a:endParaRPr lang="en-US" sz="1500" dirty="0"/>
          </a:p>
        </p:txBody>
      </p:sp>
      <p:sp>
        <p:nvSpPr>
          <p:cNvPr id="29" name="ícono Privacidad por diseño fondo"/>
          <p:cNvSpPr/>
          <p:nvPr/>
        </p:nvSpPr>
        <p:spPr>
          <a:xfrm>
            <a:off x="8046720" y="42519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0" name="ícono Privacidad por diseño" descr="Ícono de escud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0" y="4434840"/>
            <a:ext cx="365760" cy="36576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961120" y="42336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Privacidad por diseño</a:t>
            </a:r>
            <a:endParaRPr lang="en-US" sz="1700" dirty="0"/>
          </a:p>
        </p:txBody>
      </p:sp>
      <p:sp>
        <p:nvSpPr>
          <p:cNvPr id="32" name="Text 22"/>
          <p:cNvSpPr txBox="1"/>
          <p:nvPr/>
        </p:nvSpPr>
        <p:spPr>
          <a:xfrm>
            <a:off x="8961120" y="46177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Sin identificar personas; supresión de celdas con menos de 5 casos</a:t>
            </a:r>
            <a:endParaRPr lang="en-US" sz="1500" dirty="0"/>
          </a:p>
        </p:txBody>
      </p:sp>
      <p:sp>
        <p:nvSpPr>
          <p:cNvPr id="33" name="nuevo en fase 2"/>
          <p:cNvSpPr/>
          <p:nvPr/>
        </p:nvSpPr>
        <p:spPr>
          <a:xfrm>
            <a:off x="548640" y="5669280"/>
            <a:ext cx="11094415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24"/>
          <p:cNvSpPr txBox="1"/>
          <p:nvPr/>
        </p:nvSpPr>
        <p:spPr>
          <a:xfrm>
            <a:off x="822960" y="566928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Nuevo en la Fase 2:  </a:t>
            </a:r>
            <a:r>
              <a:rPr lang="en-US" sz="1500" dirty="0">
                <a:solidFill>
                  <a:schemeClr val="tx1"/>
                </a:solidFill>
              </a:rPr>
              <a:t>revisión cruzada (quien escribe un cambio no lo revisa) y revisión automática del etiquetado contra la guía.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Alcances y limitaciones</a:t>
            </a:r>
            <a:endParaRPr lang="en-US" sz="3200" dirty="0"/>
          </a:p>
        </p:txBody>
      </p:sp>
      <p:sp>
        <p:nvSpPr>
          <p:cNvPr id="4" name="tarjeta Alcance de la versión 1.0 (S15)"/>
          <p:cNvSpPr/>
          <p:nvPr/>
        </p:nvSpPr>
        <p:spPr>
          <a:xfrm>
            <a:off x="548640" y="1371600"/>
            <a:ext cx="5376672" cy="4754880"/>
          </a:xfrm>
          <a:prstGeom prst="roundRect">
            <a:avLst>
              <a:gd name="adj" fmla="val 1538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ícono Alcance de la versión 1.0 (S15) fondo"/>
          <p:cNvSpPr/>
          <p:nvPr/>
        </p:nvSpPr>
        <p:spPr>
          <a:xfrm>
            <a:off x="914400" y="169164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ícono Alcance de la versión 1.0 (S15)" descr="Ícono de círculo con marca de verificació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1885950"/>
            <a:ext cx="388620" cy="3886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874520" y="1691640"/>
            <a:ext cx="3776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Alcance de la versión 1.0 (S15)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788920"/>
            <a:ext cx="45537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Procesar video desde una carpeta o pedido desde la web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Detectar casco y chaleco y agruparlos en hallazgos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Reglas configurables por zona, turno y severidad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Bandeja, visor, panel y reportes en la web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Alertas con acuse de recibo</a:t>
            </a:r>
            <a:endParaRPr lang="en-US" sz="1800" dirty="0"/>
          </a:p>
        </p:txBody>
      </p:sp>
      <p:sp>
        <p:nvSpPr>
          <p:cNvPr id="9" name="tarjeta Limitaciones"/>
          <p:cNvSpPr/>
          <p:nvPr/>
        </p:nvSpPr>
        <p:spPr>
          <a:xfrm>
            <a:off x="6263640" y="1371600"/>
            <a:ext cx="5376672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ícono Limitaciones fondo"/>
          <p:cNvSpPr/>
          <p:nvPr/>
        </p:nvSpPr>
        <p:spPr>
          <a:xfrm>
            <a:off x="6629400" y="169164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1" name="ícono Limitaciones" descr="Ícono de triángulo de advertenc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710" y="1885950"/>
            <a:ext cx="388620" cy="3886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89520" y="1691640"/>
            <a:ext cx="3776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Limitaciones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6675120" y="2788920"/>
            <a:ext cx="45537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identifica personas ni hace reconocimiento facial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 métrica se mide en una sola escena y una sola cámara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Cámaras en vivo (RTSP) diseñadas, no puestas en producción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Complementa al prevencionista; no lo reemplaza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 hacia la versión 1.0</a:t>
            </a:r>
            <a:endParaRPr lang="en-US" sz="3200" dirty="0"/>
          </a:p>
        </p:txBody>
      </p:sp>
      <p:sp>
        <p:nvSpPr>
          <p:cNvPr id="4" name="línea de tiempo"/>
          <p:cNvSpPr/>
          <p:nvPr/>
        </p:nvSpPr>
        <p:spPr>
          <a:xfrm>
            <a:off x="914400" y="1965960"/>
            <a:ext cx="8526551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hito S10–S11"/>
          <p:cNvSpPr txBox="1"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6032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S10–S11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00400"/>
            <a:ext cx="2476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Métrica del modelo y acuerdo entre etiquetadores; cierre del H2 en el portátil de Miguel</a:t>
            </a:r>
            <a:endParaRPr lang="en-US" sz="1700" dirty="0"/>
          </a:p>
        </p:txBody>
      </p:sp>
      <p:sp>
        <p:nvSpPr>
          <p:cNvPr id="8" name="hito S11–S12"/>
          <p:cNvSpPr txBox="1"/>
          <p:nvPr/>
        </p:nvSpPr>
        <p:spPr>
          <a:xfrm>
            <a:off x="3390824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3390824" y="256032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S11–S12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3390824" y="3200400"/>
            <a:ext cx="2476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Alertas probadas con un teléfono real y segunda ronda del modelo</a:t>
            </a:r>
            <a:endParaRPr lang="en-US" sz="1700" dirty="0"/>
          </a:p>
        </p:txBody>
      </p:sp>
      <p:sp>
        <p:nvSpPr>
          <p:cNvPr id="11" name="hito S13–S14"/>
          <p:cNvSpPr txBox="1"/>
          <p:nvPr/>
        </p:nvSpPr>
        <p:spPr>
          <a:xfrm>
            <a:off x="6233008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233008" y="256032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S13–S14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233008" y="3200400"/>
            <a:ext cx="2476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Analítica, accesibilidad y plan de pruebas formal</a:t>
            </a:r>
            <a:endParaRPr lang="en-US" sz="1700" dirty="0"/>
          </a:p>
        </p:txBody>
      </p:sp>
      <p:sp>
        <p:nvSpPr>
          <p:cNvPr id="14" name="hito S15"/>
          <p:cNvSpPr txBox="1"/>
          <p:nvPr/>
        </p:nvSpPr>
        <p:spPr>
          <a:xfrm>
            <a:off x="9075191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9075191" y="256032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9075191" y="3200400"/>
            <a:ext cx="24764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Versión 1.0 e informe final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8463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Gracias. ¿Preguntas?</a:t>
            </a:r>
            <a:endParaRPr lang="en-US" sz="5600" dirty="0"/>
          </a:p>
        </p:txBody>
      </p:sp>
      <p:sp>
        <p:nvSpPr>
          <p:cNvPr id="18" name="ícono casco cierre fondo"/>
          <p:cNvSpPr/>
          <p:nvPr/>
        </p:nvSpPr>
        <p:spPr>
          <a:xfrm>
            <a:off x="10271455" y="470916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9" name="ícono casco cierre" descr="Ícono de casco de seguridad en un círculo naranj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4355" y="5052060"/>
            <a:ext cx="685800" cy="685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del sistema: la aplicación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26" name="etiqueta Panel general"/>
          <p:cNvSpPr/>
          <p:nvPr/>
        </p:nvSpPr>
        <p:spPr>
          <a:xfrm>
            <a:off x="548640" y="1234440"/>
            <a:ext cx="1431036" cy="329184"/>
          </a:xfrm>
          <a:prstGeom prst="roundRect">
            <a:avLst/>
          </a:prstGeom>
          <a:solidFill>
            <a:srgbClr val="E86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Panel general</a:t>
            </a:r>
          </a:p>
        </p:txBody>
      </p:sp>
      <p:pic>
        <p:nvPicPr>
          <p:cNvPr id="27" name="captura panel general" descr="Captura del panel general: filtros, indicador de hallazgos abiertos, tendencia semanal y ranking de EPP incumpli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486400" cy="2697480"/>
          </a:xfrm>
          <a:prstGeom prst="rect">
            <a:avLst/>
          </a:prstGeom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28" name="etiqueta Reglas por área"/>
          <p:cNvSpPr/>
          <p:nvPr/>
        </p:nvSpPr>
        <p:spPr>
          <a:xfrm>
            <a:off x="548640" y="4572000"/>
            <a:ext cx="1623060" cy="329184"/>
          </a:xfrm>
          <a:prstGeom prst="roundRect">
            <a:avLst/>
          </a:prstGeom>
          <a:solidFill>
            <a:srgbClr val="E86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Reglas por área</a:t>
            </a:r>
          </a:p>
        </p:txBody>
      </p:sp>
      <p:pic>
        <p:nvPicPr>
          <p:cNvPr id="29" name="captura reglas" descr="Captura de la pantalla de reglas de seguridad, con una regla activa por áre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983480"/>
            <a:ext cx="5486400" cy="1003110"/>
          </a:xfrm>
          <a:prstGeom prst="rect">
            <a:avLst/>
          </a:prstGeom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30" name="etiqueta Video pedido desde la web, en proceso"/>
          <p:cNvSpPr/>
          <p:nvPr/>
        </p:nvSpPr>
        <p:spPr>
          <a:xfrm>
            <a:off x="6263640" y="1234440"/>
            <a:ext cx="3735324" cy="329184"/>
          </a:xfrm>
          <a:prstGeom prst="roundRect">
            <a:avLst/>
          </a:prstGeom>
          <a:solidFill>
            <a:srgbClr val="E86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Video pedido desde la web, en proceso</a:t>
            </a:r>
          </a:p>
        </p:txBody>
      </p:sp>
      <p:pic>
        <p:nvPicPr>
          <p:cNvPr id="31" name="captura pedido en proceso" descr="Captura de la cola de videos con un video pedido desde la web en proceso y la vista del modelo con caja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645920"/>
            <a:ext cx="5376672" cy="2382069"/>
          </a:xfrm>
          <a:prstGeom prst="rect">
            <a:avLst/>
          </a:prstGeom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32" name="etiqueta Cola de videos y reprocesar"/>
          <p:cNvSpPr/>
          <p:nvPr/>
        </p:nvSpPr>
        <p:spPr>
          <a:xfrm>
            <a:off x="6263640" y="4256589"/>
            <a:ext cx="2775204" cy="329184"/>
          </a:xfrm>
          <a:prstGeom prst="roundRect">
            <a:avLst/>
          </a:prstGeom>
          <a:solidFill>
            <a:srgbClr val="E86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Cola de videos y reprocesar</a:t>
            </a:r>
          </a:p>
        </p:txBody>
      </p:sp>
      <p:pic>
        <p:nvPicPr>
          <p:cNvPr id="33" name="captura cola de videos" descr="Captura de la cola de videos, con un video en cola y otro con error y botón para reprocesa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4668069"/>
            <a:ext cx="5376672" cy="695804"/>
          </a:xfrm>
          <a:prstGeom prst="rect">
            <a:avLst/>
          </a:prstGeom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34" name="TextBox 33"/>
          <p:cNvSpPr txBox="1"/>
          <p:nvPr/>
        </p:nvSpPr>
        <p:spPr>
          <a:xfrm>
            <a:off x="6263640" y="5638194"/>
            <a:ext cx="53766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 b="0">
                <a:solidFill>
                  <a:srgbClr val="5F676B"/>
                </a:solidFill>
              </a:rPr>
              <a:t>Panel, reglas y cola: capturas contra el contrato simulado de la API. Pedido en proceso: sistema real, con el modelo.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del sistema: la base de datos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26" name="diagrama entidad-relación" descr="Diagrama entidad-relación de las 15 tablas de la base de datos y sus relacion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6309360" cy="4856719"/>
          </a:xfrm>
          <a:prstGeom prst="rect">
            <a:avLst/>
          </a:prstGeom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9" name="tarjeta Limitaciones"/>
          <p:cNvSpPr/>
          <p:nvPr/>
        </p:nvSpPr>
        <p:spPr>
          <a:xfrm>
            <a:off x="7178040" y="1280160"/>
            <a:ext cx="4462272" cy="484632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Box 26"/>
          <p:cNvSpPr txBox="1"/>
          <p:nvPr/>
        </p:nvSpPr>
        <p:spPr>
          <a:xfrm>
            <a:off x="7498079" y="15544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i="0" b="1">
                <a:solidFill>
                  <a:srgbClr val="1F2324"/>
                </a:solidFill>
              </a:rPr>
              <a:t>PostgreSQL 17 · 15 tablas</a:t>
            </a:r>
          </a:p>
        </p:txBody>
      </p:sp>
      <p:sp>
        <p:nvSpPr>
          <p:cNvPr id="13" name="Text 8"/>
          <p:cNvSpPr txBox="1"/>
          <p:nvPr/>
        </p:nvSpPr>
        <p:spPr>
          <a:xfrm>
            <a:off x="7498079" y="2240280"/>
            <a:ext cx="3886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6 migraciones versionadas: el esquema no se edita a mano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esquema.sql: script completo, generado desde las migraciones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diagrama-er.md: generado desde los modelos, con todas las columnas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datos-ejemplo.sql: el perfil de construcción, sin datos personales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 el repositorio: Evidencias de sistema / Base de datos</a:t>
            </a:r>
            <a:endParaRPr lang="en-US" sz="1800" dirty="0"/>
          </a:p>
        </p:txBody>
      </p:sp>
      <p:sp>
        <p:nvSpPr>
          <p:cNvPr id="28" name="TextBox 27"/>
          <p:cNvSpPr txBox="1"/>
          <p:nvPr/>
        </p:nvSpPr>
        <p:spPr>
          <a:xfrm>
            <a:off x="548640" y="6200887"/>
            <a:ext cx="6309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i="1" b="0">
                <a:solidFill>
                  <a:srgbClr val="5F676B"/>
                </a:solidFill>
              </a:rPr>
              <a:t>Relaciones entre las tablas. Diagrama generado del modelo de datos.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ardián EPP">
  <a:themeElements>
    <a:clrScheme name="Guardián EPP">
      <a:dk1>
        <a:srgbClr val="1F2324"/>
      </a:dk1>
      <a:lt1>
        <a:srgbClr val="FFFFFF"/>
      </a:lt1>
      <a:dk2>
        <a:srgbClr val="3A4144"/>
      </a:dk2>
      <a:lt2>
        <a:srgbClr val="F2F3F4"/>
      </a:lt2>
      <a:accent1>
        <a:srgbClr val="E8601C"/>
      </a:accent1>
      <a:accent2>
        <a:srgbClr val="2F7D4F"/>
      </a:accent2>
      <a:accent3>
        <a:srgbClr val="B7791F"/>
      </a:accent3>
      <a:accent4>
        <a:srgbClr val="5F676B"/>
      </a:accent4>
      <a:accent5>
        <a:srgbClr val="B83227"/>
      </a:accent5>
      <a:accent6>
        <a:srgbClr val="C9CED1"/>
      </a:accent6>
      <a:hlink>
        <a:srgbClr val="E8601C"/>
      </a:hlink>
      <a:folHlink>
        <a:srgbClr val="5F676B"/>
      </a:folHlink>
    </a:clrScheme>
    <a:fontScheme name="Guardián EPP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1585</Words>
  <Application>Microsoft Office PowerPoint</Application>
  <PresentationFormat>Panorámica</PresentationFormat>
  <Paragraphs>244</Paragraphs>
  <Slides>13</Slides>
  <Notes>13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Guardián EPP</vt:lpstr>
      <vt:lpstr>Guardián EPP</vt:lpstr>
      <vt:lpstr>Integrantes del proyecto</vt:lpstr>
      <vt:lpstr>Descripción del proyecto</vt:lpstr>
      <vt:lpstr>Objetivos y su estado a la semana 10</vt:lpstr>
      <vt:lpstr>El avance en cifras</vt:lpstr>
      <vt:lpstr>Arquitectura del software</vt:lpstr>
      <vt:lpstr>Cronograma: plan contra avance real</vt:lpstr>
      <vt:lpstr>Datos y modelo</vt:lpstr>
      <vt:lpstr>Demostración: del video al hallazgo</vt:lpstr>
      <vt:lpstr>Ajustes al plan y por qué</vt:lpstr>
      <vt:lpstr>Metodología de trabajo</vt:lpstr>
      <vt:lpstr>Alcances y limitaciones</vt:lpstr>
      <vt:lpstr>Próximos pasos hacia la versión 1.0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Guardián EPP · Informe de avance Fase 2</dc:title>
  <dc:subject>PptxGenJS Presentation</dc:subject>
  <dc:creator>Edgar Tolentino, Miguel Ortega, Lian Grandón</dc:creator>
  <cp:lastModifiedBy>Workstations Setram</cp:lastModifiedBy>
  <cp:revision>2</cp:revision>
  <dcterms:created xsi:type="dcterms:W3CDTF">2026-10-12T22:50:32Z</dcterms:created>
  <dcterms:modified xsi:type="dcterms:W3CDTF">2026-10-13T11:03:00Z</dcterms:modified>
</cp:coreProperties>
</file>