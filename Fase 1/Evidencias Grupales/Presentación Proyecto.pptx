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Jcngd7sXPErL8GQoYOiWWZ/u7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9" Type="http://customschemas.google.com/relationships/presentationmetadata" Target="meta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Edgar. Saludo a la comisión (gerencia de proyecto). Una frase: 'Guardián EPP convierte el video que la obra ya graba en eventos de incumplimiento de EPP con alerta, evidencia y analítica'. Reparto sugerido para que la participación sea equitativa (IE 13): Edgar láminas 1, 3 y 8 · Miguel láminas 4 y 5 · Lian láminas 6 y 7. Lámina 2: cada uno se presenta a sí mismo. Total 15 minutos.</a:t>
            </a: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0:30 · Cada integrante dice su nombre, su rol y en una frase de qué responde. Edgar: visión, backend, datos e infraestructura. Miguel: bandeja, visor y reglas. Lian: analítica, reportes y administración. Roles cruzados: el etiquetado lo hacen los tres.</a:t>
            </a:r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Edgar. El dolor en una imagen: el prevencionista recorre, mira y anota; lo que no vio no existe. La cámara hoy sirve para explicar el accidente, no para evitarlo. La propuesta no es 'un detector': es la plataforma que convierte detecciones en decisiones. Cerrar con la restricción: no identificamos personas, es gestión por área.</a:t>
            </a:r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Leer el objetivo general una vez, despacio. Los específicos se agrupan en tres bloques: datos y modelo (1-2), del cuadro al evento (3-5) y plataforma y validación (6-8). Subrayar el 4: las reglas las cambia el usuario, no el programador.</a:t>
            </a:r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Miguel. El alcance se fijó con números: se sumaron las horas del líder contra las once semanas y no cabían; la v1 cierra con casco y chaleco, el etiquetado es de equipo y el modelo de lenguaje visual es extensión, no requisito. Las limitaciones de la derecha son decisiones, no olvidos: la más importante es que no identificamos personas.</a:t>
            </a:r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2:30 · Lian. Contar el principio (integrar en S9) y luego pasar por las seis prácticas en una frase cada una. Ejemplo concreto del paralelismo: el diseño de la interfaz ya está aprobado y el contrato congelado, por eso el frontend empieza esta semana. Ejemplo de verificación: medimos los píxeles del casco y descubrimos que en un mismo encuadre hay zonas evaluables y zonas que no.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2:00 · Lian. Leer el cronograma por hitos, no por filas: H1 hoy; H2 en la S9 el recorrido completo funciona; H3 evaluación de avance en S10; H4 entrega v1.0.0 en S15; H5 defensa en S18. Señalar que el frontend corre en paralelo desde la S4 gracias al contrato congelado, y que el etiquetado (S5-S8) es la tarea que hacen los tres.</a:t>
            </a:r>
          </a:p>
        </p:txBody>
      </p:sp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3:00 · Edgar. Empezar por la franja de arriba: son dos programas. A, el procesador de video, corre solo en el servidor, en segundo plano, cada vez que llega un video; B, la plataforma web, es lo que el usuario abre en el navegador. Se comunican solo por la base de datos: A escribe hallazgos, B los lee. Luego el flujo de izquierda a derecha. (1) Entra el video: la obra deja sus grabaciones en una carpeta y el sistema las toma solo; OpenCV lee el video, se queda con 5 cuadros por segundo, tapa las zonas que no se deben analizar y difumina rostros antes de guardar; cada cuadro queda fechado con la hora real de la grabación. (2) Se detecta y se sigue: RF-DETR es el modelo que marca personas, cascos y chalecos, entrenado con nuestras imágenes; es de licencia libre y por eso no usamos YOLO, cuya licencia AGPL obligaría a liberar todo el código. ByteTrack sigue a cada persona de un cuadro al siguiente con un número temporal: nunca sabemos quién es. ONNX Runtime es el motor que ejecuta el modelo ya entrenado, para que corra en cualquier computador sin tarjeta gráfica. (3) Se decide y se guarda: el motor de reglas, código propio, convierte recorridos en hallazgos según las reglas de la obra, medidas en segundos; PostgreSQL guarda todo, incluidas las detecciones cuadro a cuadro, y por eso se puede cambiar una regla y recalcular sin reprocesar video; Redis es una base de datos en memoria que usamos como fila de espera de los videos. (4) Se usa: FastAPI lee la base y entrega los datos a la web bajo un contrato acordado antes de programar; React es la web que construyen Miguel y Lian; la alerta llega sola al teléfono cuando se guarda un hallazgo grave, con acuse de recibo y un máximo de seis avisos por turno. Abajo, cómo se construye; la integración continua rechaza librerías AGPL. Cerrar con la última línea: el detector y las reglas deciden, la descripción con IA solo describe, y la unidad es el evento. Si preguntan por cámaras en vivo: RTSP es el protocolo de las cámaras IP; la versión 2 se conecta a cámaras en vez de leer archivos y se prueba desde la semana 6 simulando una cámara con un video grabado (MediaMTX).</a:t>
            </a:r>
          </a:p>
        </p:txBody>
      </p:sp>
      <p:sp>
        <p:nvSpPr>
          <p:cNvPr id="152" name="Google Shape;1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5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DEFINICIÓN DEL PROYECTO · FASE 1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457200" y="4297680"/>
            <a:ext cx="11247120" cy="21031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C1C1C"/>
                </a:solidFill>
                <a:latin typeface="Calibri"/>
              </a:rPr>
              <a:t>Detección automática del uso de elementos de protección personal sobre video de obra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57070"/>
                </a:solidFill>
                <a:latin typeface="Calibri"/>
              </a:rPr>
              <a:t>Edgar Tolentino  ·  Miguel Ortega  ·  Lian Grandón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57070"/>
                </a:solidFill>
                <a:latin typeface="Calibri"/>
              </a:rPr>
              <a:t>Portafolio de Título APT122 (Capstone)  ·  Ingeniería en Informática  ·  Duoc UC  ·  septiembre de 2026</a:t>
            </a: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2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Edgar Tolentino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Líder del proyecto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Visión por computador, backend, datos, infraestructura y arquitectura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Miguel Ortega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Bandeja de hallazgos, visor de evidencia y configuración de reglas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name="adj" fmla="val 10000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9050" tIns="99050" rIns="99050" bIns="99050" anchor="t" anchorCtr="0">
              <a:noAutofit/>
            </a:bodyPr>
            <a:lstStyle/>
            <a:p>
              <a:pPr marL="0" marR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400" b="1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Lian Grandón</a:t>
              </a:r>
              <a:endParaRPr sz="26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8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Desarrollador frontend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228600" marR="0" lvl="1" indent="-228600" algn="l" rtl="0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1400" b="0" i="0" u="none" strike="noStrike" cap="none">
                  <a:solidFill>
                    <a:srgbClr val="EAF0F8"/>
                  </a:solidFill>
                  <a:latin typeface="Calibri"/>
                  <a:ea typeface="Calibri"/>
                  <a:cs typeface="Calibri"/>
                  <a:sym typeface="Calibri"/>
                </a:rPr>
                <a:t>Tablero de analítica, reportes y administración</a:t>
              </a:r>
              <a:endPara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name="adj" fmla="val 10000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137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1" name="Google Shape;10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u="none" strike="noStrike" cap="non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3" name="Google Shape;10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3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1" name="Google Shape;111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12" name="Google Shape;112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El uso de EPP es obligatorio (DS 594, art. 53) y su incumplimiento causa lesiones.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Hoy la fiscalización es humana: muestral, reactiva, sin dato y sin trazabilidad.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La obra ya tiene cámaras grabando. Falta alguien que mire.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Nadie puede responder qué EPP se incumple más, dónde ni cuándo.</a:t>
            </a:r>
          </a:p>
        </p:txBody>
      </p:sp>
      <p:sp>
        <p:nvSpPr>
          <p:cNvPr id="113" name="Google Shape;113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Plataforma web que procesa el video existente y detecta casco y chaleco.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Cada incumplimiento es un evento: inicio, término, zona y evidencia.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Alerta al responsable con acuse de recibo y sin fatiga de avisos.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Analítica por EPP, zona, horario y tendencia.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1C1C"/>
                </a:solidFill>
                <a:latin typeface="Calibri"/>
              </a:rPr>
              <a:t>•  Sin identificar personas: privacidad por diseño.</a:t>
            </a:r>
          </a:p>
        </p:txBody>
      </p:sp>
      <p:sp>
        <p:nvSpPr>
          <p:cNvPr id="114" name="Google Shape;114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1C305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4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21" name="Google Shape;121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2" name="Google Shape;122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23" name="Google Shape;123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solidFill>
              <a:schemeClr val="accent1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plataforma web que detecte automáticamente, sobre video de una obra de construcción, el incumplimiento en el uso de elementos de protección personal, y que convierta cada detección en un evento gestionable, con alerta al responsable, evidencia asociada y analítica de tendencia, para anticipar condiciones inseguras en lugar de documentarlas después del accidente.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4" y="4732407"/>
            <a:ext cx="5440680" cy="1575221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12700" cap="flat" cmpd="sng">
            <a:noFill/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Dataset propio: imágenes públicas para entrenar, video de obra para probar.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2. Detector de casco y chaleco, evaluado por cuadro, evento y alerta.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3. Detecciones convertidas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4. Motor de reglas por zona, turno y severidad, sin tocar código.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263640" y="4732407"/>
            <a:ext cx="5349240" cy="1575221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5. Alertas con acuse de recibo y presupuesto de avisos por turno.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6. Web: bandeja, visor de evidencia, reglas y tablero de analítica.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7. Arquitectura lista para ingesta en vivo; el dominio es configuración.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8. Validación con plan de pruebas formal y video de referencia.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5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34" name="Rounded Rectangle 133"/>
          <p:cNvSpPr/>
          <p:nvPr/>
        </p:nvSpPr>
        <p:spPr>
          <a:xfrm>
            <a:off x="548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Alcance de la versión 1 (semana 15)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de archivos de video por carpeta vigilada.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Detección de casco y chaleco con modelo propio afinado.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Seguimiento y agrupación en eventos con inicio, término, zona y evidencia.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Motor de reglas configurable por zona, turno y severidad, sin desplegar código.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Alertas con acuse de recibo, supresión de repetidos y presupuesto por turno.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Bandeja de hallazgos, visor de evidencia, configuración de reglas y tablero de analítica.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286000"/>
            <a:ext cx="5394960" cy="4114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F3864"/>
                </a:solidFill>
                <a:latin typeface="Calibri"/>
              </a:rPr>
              <a:t>Limitaciones y fuera de alcance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No identifica personas: sin reconocimiento facial ni inferencia de atributos (por diseño).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Ingesta en vivo (RTSP) diseñada y probada, no puesta en producción.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Arnés, guantes y lentes: extensión demostrada si el dataset alcanza, no compromiso.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La cámara debe ser fija; si se mueve, las reglas de la zona se suspenden.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Solo se evalúa en obra de construcción; la minería es un perfil de configuración no evaluado.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1C1C1C"/>
                </a:solidFill>
                <a:latin typeface="Calibri"/>
              </a:rPr>
              <a:t>•  Complementa al prevencionista, no lo reemplaza.</a:t>
            </a:r>
          </a:p>
        </p:txBody>
      </p:sp>
    </p:spTree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6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42" name="TextBox 141"/>
          <p:cNvSpPr txBox="1"/>
          <p:nvPr/>
        </p:nvSpPr>
        <p:spPr>
          <a:xfrm>
            <a:off x="548640" y="2148840"/>
            <a:ext cx="11064240" cy="6858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C1C1C"/>
                </a:solidFill>
                <a:latin typeface="Calibri"/>
              </a:rPr>
              <a:t>Iterativa e incremental, en ciclos semanales. Principio: integrar temprano y mejorar después. El recorrido completo, del video a la alerta, funciona en la semana 9 aunque el modelo sea mediocre.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1. Gestión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Un issue por tarea · reunión semanal de 45 min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Etiqueta de versión cada viernes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ADR para toda decisión de fondo, con alternativas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429767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2. Paralelismo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Contrato OpenAPI congelado en S4 (17 operaciones)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Servidor simulado: el frontend no espera al modelo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046719" y="297180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3. Calidad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Nada entra a main sin pull request ni 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Tipado estricto, pruebas en 2 versiones de Python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Terminado = CI + pruebas + docs + otro lo ejecutó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48640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4. Datos y modelo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Imágenes públicas entrenan, video propio prueba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Pre-etiquetado automático y corrección en 3 rondas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Métricas por cuadro, evento y alerta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9767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5. Verificaciones con fecha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Acceso al video · píxeles por cámara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Horas contra el calendario · matriz de EPP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El resultado ajusta el plan por escrito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046719" y="4754880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6. Privacidad por diseño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Sin identificación de personas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Rostro difuminado antes de guardar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1C1C1C"/>
                </a:solidFill>
                <a:latin typeface="Calibri"/>
              </a:rPr>
              <a:t>•  Reglas con base de licitud y retención en la BD</a:t>
            </a:r>
          </a:p>
        </p:txBody>
      </p:sp>
    </p:spTree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7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48" name="Google Shape;148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Plan inicial de 18 semanas · Fase 1 (S1-S4) · Fase 2 (S5-S15) · Fase 3 (S16-S18) · hitos H1 a H5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graphicFrame>
        <p:nvGraphicFramePr>
          <p:cNvPr id="150" name="Table 149"/>
          <p:cNvGraphicFramePr>
            <a:graphicFrameLocks noGrp="1"/>
          </p:cNvGraphicFramePr>
          <p:nvPr/>
        </p:nvGraphicFramePr>
        <p:xfrm>
          <a:off x="365760" y="2148840"/>
          <a:ext cx="1143000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3464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  <a:gridCol w="477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 marL="27432" marR="27432" marT="9144" marB="9144" anchor="ctr">
                    <a:solidFill>
                      <a:srgbClr val="75707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Definición y arquitectura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Repositorio, CI y contrato de API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Grabación, dataset y etiquetado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Entrenamiento y evaluación del modelo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Pipeline de video y eventos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API, dominio y base de datos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Frontend (bandeja, visor, reglas, analítica)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Alertas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Analítica y reportes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Pruebas y endurecimiento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>Documentación y entregables</a:t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C1C1C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8C8C8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Calibri"/>
                        </a:rPr>
                        <a:t>Hitos</a:t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H4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27432" marR="27432" marT="9144" marB="9144" anchor="ctr">
                    <a:solidFill>
                      <a:srgbClr val="DDE5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H5</a:t>
                      </a:r>
                    </a:p>
                  </a:txBody>
                  <a:tcPr marL="27432" marR="27432" marT="9144" marB="9144" anchor="ctr">
                    <a:solidFill>
                      <a:srgbClr val="1F3864"/>
                    </a:solidFill>
                  </a:tcPr>
                </a:tc>
              </a:tr>
            </a:tbl>
          </a:graphicData>
        </a:graphic>
      </p:graphicFrame>
      <p:sp>
        <p:nvSpPr>
          <p:cNvPr id="151" name="TextBox 150"/>
          <p:cNvSpPr txBox="1"/>
          <p:nvPr/>
        </p:nvSpPr>
        <p:spPr>
          <a:xfrm>
            <a:off x="365760" y="6080760"/>
            <a:ext cx="114300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57070"/>
                </a:solidFill>
                <a:latin typeface="Calibri"/>
              </a:rPr>
              <a:t>H1 · S4: Exposición grupal y Guía 1.5   ·   H2 · S9: Recorrido completo funcionando   ·   H3 · S10: Evaluación de avance   ·   H4 · S15: Entrega final v1.0.0   ·   H5 · S18: Defensa</a:t>
            </a:r>
          </a:p>
        </p:txBody>
      </p:sp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8" descr="EscuelaIT Duoc UC - Escuela de Informática y Telecomunicaciones Duoc UC - Duoc  UC | LinkedIn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“GUARDIÁN EPP”</a:t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Cómo viaja el video hasta convertirse en un hallazgo con evidencia. En cada caja: una tecnología y lo que hace.</a:t>
            </a:r>
            <a:endParaRPr/>
          </a:p>
        </p:txBody>
      </p:sp>
      <p:cxnSp>
        <p:nvCxnSpPr>
          <p:cNvPr id="157" name="Google Shape;157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w="15875" cap="flat" cmpd="sng">
            <a:solidFill>
              <a:srgbClr val="F5F7FC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158" name="Rounded Rectangle 157"/>
          <p:cNvSpPr/>
          <p:nvPr/>
        </p:nvSpPr>
        <p:spPr>
          <a:xfrm>
            <a:off x="365760" y="2304288"/>
            <a:ext cx="8494776" cy="27432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A · PROCESADOR DE VIDEO</a:t>
            </a:r>
            <a:r>
              <a:rPr sz="950" b="0">
                <a:solidFill>
                  <a:srgbClr val="1C1C1C"/>
                </a:solidFill>
                <a:latin typeface="Calibri"/>
              </a:rPr>
              <a:t>  ·  un programa que corre solo en el servidor cada vez que llega un video  ·  módulos propios: gepp-worker, gepp-vision, gepp-core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171432" y="2304288"/>
            <a:ext cx="2624328" cy="274320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3864"/>
                </a:solidFill>
                <a:latin typeface="Calibri"/>
              </a:rPr>
              <a:t>B · PLATAFORMA WEB</a:t>
            </a:r>
            <a:r>
              <a:rPr sz="950" b="0">
                <a:solidFill>
                  <a:srgbClr val="1C1C1C"/>
                </a:solidFill>
                <a:latin typeface="Calibri"/>
              </a:rPr>
              <a:t>  ·  gepp-api y la web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65760" y="2633472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 · ENTRA EL VIDEO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cuándo: cada vez que llega un video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3218688"/>
            <a:ext cx="2624328" cy="12435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Carpeta vigilada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La obra deja sus grabaciones en una carpeta y el sistema las toma solo. Cada cuadro queda fechado con la hora real en que se grabó. Más adelante: cámaras en vivo, con el mismo diseño.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365760" y="4535424"/>
            <a:ext cx="2624328" cy="1243584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OpenCV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Abre el video y se queda con 5 cuadros por segundo. Tapa las zonas que no se deben analizar y difumina los rostros antes de guardar cualquier imagen.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300984" y="2633472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 · SE DETECTA Y SE SIGUE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cuándo: enseguida, sin que nadie lo pida</a:t>
            </a:r>
          </a:p>
        </p:txBody>
      </p:sp>
      <p:sp>
        <p:nvSpPr>
          <p:cNvPr id="164" name="Right Arrow 163"/>
          <p:cNvSpPr/>
          <p:nvPr/>
        </p:nvSpPr>
        <p:spPr>
          <a:xfrm>
            <a:off x="3017520" y="2734056"/>
            <a:ext cx="256032" cy="310896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3300984" y="3218688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RF-DETR · el detector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Marca en cada cuadro dónde hay personas, cascos y chalecos. Se entrena con nuestras imágenes. Licencia libre, por eso no YOLO.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300984" y="4096512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ByteTrack · el seguidor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Sigue a cada persona de un cuadro al siguiente y arma su recorrido. Le da un número temporal, nunca una identidad.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3300984" y="4974336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ONNX Runtime · la ejecución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Qué es: motor que ejecuta modelos ya entrenados. Para qué: que el modelo corra en cualquier computador, sin tarjeta gráfica.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236208" y="2633472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 · SE DECIDE Y SE GUARDA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cuándo: al terminar cada video</a:t>
            </a:r>
          </a:p>
        </p:txBody>
      </p:sp>
      <p:sp>
        <p:nvSpPr>
          <p:cNvPr id="169" name="Right Arrow 168"/>
          <p:cNvSpPr/>
          <p:nvPr/>
        </p:nvSpPr>
        <p:spPr>
          <a:xfrm>
            <a:off x="5952744" y="2734056"/>
            <a:ext cx="256032" cy="310896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6236208" y="3218688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Motor de reglas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Aplica las reglas de la obra: X segundos sin casco donde se exige crean un hallazgo con inicio, término, zona y severidad.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6236208" y="4096512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PostgreSQL · la base de datos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Guarda hallazgos, detecciones cuadro a cuadro, reglas con historial y acuses. Es el punto de encuentro entre A y B.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236208" y="4974336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Redis · la fila de espera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Qué es: base de datos en memoria, muy rápida. Para qué: que los videos hagan fila y se procesen de a uno, sin perderse.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9171432" y="2633472"/>
            <a:ext cx="2624328" cy="51206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 · SE USA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cuándo: cuando el usuario abre el navegador</a:t>
            </a:r>
          </a:p>
        </p:txBody>
      </p:sp>
      <p:sp>
        <p:nvSpPr>
          <p:cNvPr id="174" name="Right Arrow 173"/>
          <p:cNvSpPr/>
          <p:nvPr/>
        </p:nvSpPr>
        <p:spPr>
          <a:xfrm>
            <a:off x="8887967" y="2734056"/>
            <a:ext cx="256032" cy="310896"/>
          </a:xfrm>
          <a:prstGeom prst="right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ounded Rectangle 174"/>
          <p:cNvSpPr/>
          <p:nvPr/>
        </p:nvSpPr>
        <p:spPr>
          <a:xfrm>
            <a:off x="9171432" y="3218688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FastAPI · la 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Servicio que lee la base de datos y entrega la información a la web bajo un contrato fijo (OpenAPI). Corre sin GPU.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171432" y="4096512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React · la web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Bandeja de hallazgos, visor de evidencia, reglas y tablero. Miguel y Lian la construyen contra un servidor simulado (Prism).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171432" y="4974336"/>
            <a:ext cx="2624328" cy="804672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Telegram o correo · la alerta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1C1C1C"/>
                </a:solidFill>
                <a:latin typeface="Calibri"/>
              </a:rPr>
              <a:t>Llega sola al teléfono cuando se guarda un hallazgo grave. Acuse de recibo y máximo 6 avisos por turno.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65760" y="5852160"/>
            <a:ext cx="11430000" cy="512064"/>
          </a:xfrm>
          <a:prstGeom prst="roundRect">
            <a:avLst>
              <a:gd name="adj" fmla="val 8000"/>
            </a:avLst>
          </a:prstGeom>
          <a:solidFill>
            <a:srgbClr val="DDE5F0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411480" y="5852160"/>
            <a:ext cx="1463040" cy="512064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CÓMO 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CONSTRUYE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920240" y="5870448"/>
            <a:ext cx="3291840" cy="47548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uv</a:t>
            </a:r>
            <a:r>
              <a:rPr sz="900" b="0">
                <a:solidFill>
                  <a:srgbClr val="1C1C1C"/>
                </a:solidFill>
                <a:latin typeface="Calibri"/>
              </a:rPr>
              <a:t> · un solo entorno Python para todos los módulos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pytest · mypy · ruff</a:t>
            </a:r>
            <a:r>
              <a:rPr sz="900" b="0">
                <a:solidFill>
                  <a:srgbClr val="1C1C1C"/>
                </a:solidFill>
                <a:latin typeface="Calibri"/>
              </a:rPr>
              <a:t> · pruebas, tipos y estilo automáticos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12080" y="5870448"/>
            <a:ext cx="3291840" cy="47548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GitHub Actions</a:t>
            </a:r>
            <a:r>
              <a:rPr sz="900" b="0">
                <a:solidFill>
                  <a:srgbClr val="1C1C1C"/>
                </a:solidFill>
                <a:latin typeface="Calibri"/>
              </a:rPr>
              <a:t> · prueba cada cambio; rechaza librerías AGPL (como YOLO), que obligarían a liberar todo el código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Docker Compose</a:t>
            </a:r>
            <a:r>
              <a:rPr sz="900" b="0">
                <a:solidFill>
                  <a:srgbClr val="1C1C1C"/>
                </a:solidFill>
                <a:latin typeface="Calibri"/>
              </a:rPr>
              <a:t> · PostgreSQL y Redis con un comando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503920" y="5870448"/>
            <a:ext cx="3291840" cy="47548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Prism</a:t>
            </a:r>
            <a:r>
              <a:rPr sz="900" b="0">
                <a:solidFill>
                  <a:srgbClr val="1C1C1C"/>
                </a:solidFill>
                <a:latin typeface="Calibri"/>
              </a:rPr>
              <a:t> · servidor simulado: la web avanza sin backend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1F3864"/>
                </a:solidFill>
                <a:latin typeface="Calibri"/>
              </a:rPr>
              <a:t>CVAT</a:t>
            </a:r>
            <a:r>
              <a:rPr sz="900" b="0">
                <a:solidFill>
                  <a:srgbClr val="1C1C1C"/>
                </a:solidFill>
                <a:latin typeface="Calibri"/>
              </a:rPr>
              <a:t> · etiquetado de imágenes en nuestro computador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365760" y="6400800"/>
            <a:ext cx="1143000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1C1C1C"/>
                </a:solidFill>
                <a:latin typeface="Calibri"/>
              </a:rPr>
              <a:t>A y B son programas separados que solo se comunican por la base de datos: A escribe los hallazgos, B los lee y los muestra. A trabaja siempre, sin que nadie lo abra; B se usa cuando se necesita.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864"/>
                </a:solidFill>
                <a:latin typeface="Calibri"/>
              </a:rPr>
              <a:t>El detector y las reglas deciden; la descripción con IA (extensión futura) solo describe.   ·   La unidad es el evento: un turno son 12 hallazgos, no 200.000 cuadros.</a:t>
            </a:r>
          </a:p>
        </p:txBody>
      </p: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</Words>
  <Application>Microsoft Office PowerPoint</Application>
  <PresentationFormat>Panorámica</PresentationFormat>
  <Paragraphs>36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Gerardo Galan Cruz</dc:creator>
  <cp:lastModifiedBy>AO-Alumno</cp:lastModifiedBy>
  <cp:revision>1</cp:revision>
  <dcterms:created xsi:type="dcterms:W3CDTF">2023-10-28T21:12:11Z</dcterms:created>
  <dcterms:modified xsi:type="dcterms:W3CDTF">2026-09-01T23:00:56Z</dcterms:modified>
</cp:coreProperties>
</file>