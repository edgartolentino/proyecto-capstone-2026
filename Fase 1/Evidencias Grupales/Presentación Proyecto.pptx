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9" roundtripDataSignature="AMtx7mjJcngd7sXPErL8GQoYOiWWZ/u7u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23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19" Type="http://customschemas.google.com/relationships/presentationmetadata" Target="meta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0:30 · Edgar. Saludo a la comisión (gerencia de proyecto). Una frase: 'Guardián EPP convierte el video que la obra ya graba en eventos de incumplimiento de EPP con alerta, evidencia y analítica'. Reparto sugerido para que la participación sea equitativa (IE 13): Edgar láminas 1, 3 y 8 · Miguel láminas 4 y 5 · Lian láminas 6 y 7. Lámina 2: cada uno se presenta a sí mismo. Total 15 minutos.</a:t>
            </a:r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0:30 · Cada integrante dice su nombre, su rol y en una frase de qué responde. Edgar: visión, backend, datos e infraestructura. Miguel: bandeja, visor y reglas. Lian: analítica, reportes y administración. Roles cruzados: el etiquetado lo hacen los tres.</a:t>
            </a:r>
          </a:p>
        </p:txBody>
      </p:sp>
      <p:sp>
        <p:nvSpPr>
          <p:cNvPr id="88" name="Google Shape;8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2:30 · Edgar. El dolor en una imagen: el prevencionista recorre, mira y anota; lo que no vio no existe. La cámara hoy sirve para explicar el accidente, no para evitarlo. La propuesta no es 'un detector': es la plataforma que convierte detecciones en decisiones. Cerrar con la restricción: no identificamos personas, es gestión por área.</a:t>
            </a:r>
          </a:p>
        </p:txBody>
      </p:sp>
      <p:sp>
        <p:nvSpPr>
          <p:cNvPr id="106" name="Google Shape;10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2:00 · Miguel. Leer el objetivo general una vez, despacio. Los específicos se agrupan en tres bloques: datos y modelo (1-2), del cuadro al evento (3-5) y plataforma y validación (6-8). Subrayar el 4: las reglas las cambia el usuario, no el programador.</a:t>
            </a:r>
          </a:p>
        </p:txBody>
      </p:sp>
      <p:sp>
        <p:nvSpPr>
          <p:cNvPr id="117" name="Google Shape;117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2:00 · Miguel. El alcance se fijó con números: se sumaron las horas del líder contra las once semanas y no cabían; la v1 cierra con casco y chaleco, el etiquetado es de equipo y el modelo de lenguaje visual es extensión, no requisito. Las limitaciones de la derecha son decisiones, no olvidos: la más importante es que no identificamos personas.</a:t>
            </a:r>
          </a:p>
        </p:txBody>
      </p:sp>
      <p:sp>
        <p:nvSpPr>
          <p:cNvPr id="128" name="Google Shape;128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2:30 · Lian. Contar el principio (integrar en S9) y luego pasar por las seis prácticas en una frase cada una. Ejemplo concreto del paralelismo: el diseño de la interfaz ya está aprobado y el contrato congelado, por eso el frontend empieza esta semana. Ejemplo de verificación: medimos los píxeles del casco y descubrimos que en un mismo encuadre hay zonas evaluables y zonas que no.</a:t>
            </a:r>
          </a:p>
        </p:txBody>
      </p:sp>
      <p:sp>
        <p:nvSpPr>
          <p:cNvPr id="136" name="Google Shape;13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2:00 · Lian. Leer el cronograma por hitos, no por filas: H1 hoy; H2 en la S9 el recorrido completo funciona; H3 evaluación de avance en S10; H4 entrega v1.0.0 en S15; H5 defensa en S18. Señalar que el frontend corre en paralelo desde la S4 gracias al contrato congelado, y que el etiquetado (S5-S8) es la tarea que hacen los tres.</a:t>
            </a:r>
          </a:p>
        </p:txBody>
      </p:sp>
      <p:sp>
        <p:nvSpPr>
          <p:cNvPr id="144" name="Google Shape;14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3:00 · Edgar. Recorrer el dibujo de arriba abajo: el video entra por un puerto y el reloj nace en la captura; la Etapa 1 muestrea, detecta, sigue y persiste las detecciones crudas; el motor de reglas decide en segundos y produce un hallazgo; el hallazgo alimenta la evidencia, la notificación, la API y la web. La Etapa 2 (modelo de lenguaje visual) solo describe, nunca crea ni suprime hallazgos: así el sistema es auditable. Cerrar con las tres decisiones que hacen que esto no sea un trabajo escolar: el dato es propio, el incumplimiento es un evento y la alerta cierra el ciclo con acuse de recibo.</a:t>
            </a:r>
          </a:p>
        </p:txBody>
      </p:sp>
      <p:sp>
        <p:nvSpPr>
          <p:cNvPr id="152" name="Google Shape;15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6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6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4" name="Google Shape;14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8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8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19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0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0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20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0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20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3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3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4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4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4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5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6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6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wipe/>
  </p:transition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"/>
          <p:cNvSpPr txBox="1"/>
          <p:nvPr/>
        </p:nvSpPr>
        <p:spPr>
          <a:xfrm>
            <a:off x="1" y="2707792"/>
            <a:ext cx="12192000" cy="150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“GUARDIÁN EPP”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DEFINICIÓN DEL PROYECTO · FASE 1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457200" y="4297680"/>
            <a:ext cx="11247120" cy="21031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C1C1C"/>
                </a:solidFill>
                <a:latin typeface="Calibri"/>
              </a:rPr>
              <a:t>Detección automática del uso de elementos de protección personal sobre video de obra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757070"/>
                </a:solidFill>
                <a:latin typeface="Calibri"/>
              </a:rPr>
              <a:t>Edgar Tolentino  ·  Miguel Ortega  ·  Lian Grandón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57070"/>
                </a:solidFill>
                <a:latin typeface="Calibri"/>
              </a:rPr>
              <a:t>Portafolio de Título APT122 (Capstone)  ·  Ingeniería en Informática  ·  Duoc UC  ·  septiembre de 2026</a:t>
            </a:r>
          </a:p>
        </p:txBody>
      </p:sp>
    </p:spTree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2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1" name="Google Shape;91;p2"/>
          <p:cNvGrpSpPr/>
          <p:nvPr/>
        </p:nvGrpSpPr>
        <p:grpSpPr>
          <a:xfrm>
            <a:off x="4121026" y="1710819"/>
            <a:ext cx="7633494" cy="4350553"/>
            <a:chOff x="0" y="0"/>
            <a:chExt cx="7633494" cy="4350553"/>
          </a:xfrm>
        </p:grpSpPr>
        <p:sp>
          <p:nvSpPr>
            <p:cNvPr id="92" name="Google Shape;92;p2"/>
            <p:cNvSpPr/>
            <p:nvPr/>
          </p:nvSpPr>
          <p:spPr>
            <a:xfrm>
              <a:off x="0" y="0"/>
              <a:ext cx="7633494" cy="1359548"/>
            </a:xfrm>
            <a:prstGeom prst="roundRect">
              <a:avLst>
                <a:gd name="adj" fmla="val 10000"/>
              </a:avLst>
            </a:prstGeom>
            <a:gradFill>
              <a:gsLst>
                <a:gs pos="0">
                  <a:srgbClr val="6EA2D9"/>
                </a:gs>
                <a:gs pos="50000">
                  <a:srgbClr val="5197DA"/>
                </a:gs>
                <a:gs pos="100000">
                  <a:srgbClr val="4185C7"/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13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Google Shape;93;p2"/>
            <p:cNvSpPr txBox="1"/>
            <p:nvPr/>
          </p:nvSpPr>
          <p:spPr>
            <a:xfrm>
              <a:off x="1662653" y="0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9050" tIns="99050" rIns="99050" bIns="9905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lang="es-CL" sz="2400" b="1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Edgar Tolentino</a:t>
              </a:r>
              <a:endParaRPr sz="2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18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Líder del proyecto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1400" b="0" i="0" u="none" strike="noStrike" cap="none">
                  <a:solidFill>
                    <a:srgbClr val="EAF0F8"/>
                  </a:solidFill>
                  <a:latin typeface="Calibri"/>
                  <a:ea typeface="Calibri"/>
                  <a:cs typeface="Calibri"/>
                  <a:sym typeface="Calibri"/>
                </a:rPr>
                <a:t>Visión por computador, backend, datos, infraestructura y arquitectura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4" name="Google Shape;94;p2"/>
            <p:cNvSpPr/>
            <p:nvPr/>
          </p:nvSpPr>
          <p:spPr>
            <a:xfrm>
              <a:off x="135954" y="135954"/>
              <a:ext cx="1526698" cy="1087638"/>
            </a:xfrm>
            <a:prstGeom prst="roundRect">
              <a:avLst>
                <a:gd name="adj" fmla="val 10000"/>
              </a:avLst>
            </a:prstGeom>
            <a:solidFill>
              <a:srgbClr val="C1D2EA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313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Google Shape;95;p2"/>
            <p:cNvSpPr/>
            <p:nvPr/>
          </p:nvSpPr>
          <p:spPr>
            <a:xfrm>
              <a:off x="0" y="1495502"/>
              <a:ext cx="7633494" cy="1359548"/>
            </a:xfrm>
            <a:prstGeom prst="roundRect">
              <a:avLst>
                <a:gd name="adj" fmla="val 10000"/>
              </a:avLst>
            </a:prstGeom>
            <a:gradFill>
              <a:gsLst>
                <a:gs pos="0">
                  <a:srgbClr val="6EA2D9"/>
                </a:gs>
                <a:gs pos="50000">
                  <a:srgbClr val="5197DA"/>
                </a:gs>
                <a:gs pos="100000">
                  <a:srgbClr val="4185C7"/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13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Google Shape;96;p2"/>
            <p:cNvSpPr txBox="1"/>
            <p:nvPr/>
          </p:nvSpPr>
          <p:spPr>
            <a:xfrm>
              <a:off x="1662653" y="1495502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9050" tIns="99050" rIns="99050" bIns="9905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lang="es-CL" sz="2400" b="1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Miguel Ortega</a:t>
              </a:r>
              <a:endParaRPr sz="2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18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Desarrollador frontend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1400" b="0" i="0" u="none" strike="noStrike" cap="none">
                  <a:solidFill>
                    <a:srgbClr val="EAF0F8"/>
                  </a:solidFill>
                  <a:latin typeface="Calibri"/>
                  <a:ea typeface="Calibri"/>
                  <a:cs typeface="Calibri"/>
                  <a:sym typeface="Calibri"/>
                </a:rPr>
                <a:t>Bandeja de hallazgos, visor de evidencia y configuración de reglas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" name="Google Shape;97;p2"/>
            <p:cNvSpPr/>
            <p:nvPr/>
          </p:nvSpPr>
          <p:spPr>
            <a:xfrm>
              <a:off x="135954" y="1631457"/>
              <a:ext cx="1526698" cy="1087638"/>
            </a:xfrm>
            <a:prstGeom prst="roundRect">
              <a:avLst>
                <a:gd name="adj" fmla="val 10000"/>
              </a:avLst>
            </a:prstGeom>
            <a:solidFill>
              <a:srgbClr val="C1D2EA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313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Google Shape;98;p2"/>
            <p:cNvSpPr/>
            <p:nvPr/>
          </p:nvSpPr>
          <p:spPr>
            <a:xfrm>
              <a:off x="0" y="2991005"/>
              <a:ext cx="7633494" cy="1359548"/>
            </a:xfrm>
            <a:prstGeom prst="roundRect">
              <a:avLst>
                <a:gd name="adj" fmla="val 10000"/>
              </a:avLst>
            </a:prstGeom>
            <a:gradFill>
              <a:gsLst>
                <a:gs pos="0">
                  <a:srgbClr val="6EA2D9"/>
                </a:gs>
                <a:gs pos="50000">
                  <a:srgbClr val="5197DA"/>
                </a:gs>
                <a:gs pos="100000">
                  <a:srgbClr val="4185C7"/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13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Google Shape;99;p2"/>
            <p:cNvSpPr txBox="1"/>
            <p:nvPr/>
          </p:nvSpPr>
          <p:spPr>
            <a:xfrm>
              <a:off x="1662653" y="2991005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9050" tIns="99050" rIns="99050" bIns="9905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lang="es-CL" sz="2400" b="1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Lian Grandón</a:t>
              </a:r>
              <a:endParaRPr sz="2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18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Desarrollador frontend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1400" b="0" i="0" u="none" strike="noStrike" cap="none">
                  <a:solidFill>
                    <a:srgbClr val="EAF0F8"/>
                  </a:solidFill>
                  <a:latin typeface="Calibri"/>
                  <a:ea typeface="Calibri"/>
                  <a:cs typeface="Calibri"/>
                  <a:sym typeface="Calibri"/>
                </a:rPr>
                <a:t>Tablero de analítica, reportes y administración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" name="Google Shape;100;p2"/>
            <p:cNvSpPr/>
            <p:nvPr/>
          </p:nvSpPr>
          <p:spPr>
            <a:xfrm>
              <a:off x="135954" y="3126960"/>
              <a:ext cx="1526698" cy="1087638"/>
            </a:xfrm>
            <a:prstGeom prst="roundRect">
              <a:avLst>
                <a:gd name="adj" fmla="val 10000"/>
              </a:avLst>
            </a:prstGeom>
            <a:solidFill>
              <a:srgbClr val="C1D2EA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313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1" name="Google Shape;101;p2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b="0" i="0" u="none" strike="noStrike" cap="non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“GUARDIÁN EPP”</a:t>
            </a:r>
            <a:endParaRPr/>
          </a:p>
        </p:txBody>
      </p:sp>
      <p:sp>
        <p:nvSpPr>
          <p:cNvPr id="102" name="Google Shape;102;p2"/>
          <p:cNvSpPr txBox="1"/>
          <p:nvPr/>
        </p:nvSpPr>
        <p:spPr>
          <a:xfrm>
            <a:off x="238327" y="3058616"/>
            <a:ext cx="3608961" cy="1200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INTEGRANTES DEL PROYECTO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3" name="Google Shape;103;p2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</p:spTree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3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3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“GUARDIÁN EPP”</a:t>
            </a:r>
            <a:endParaRPr/>
          </a:p>
        </p:txBody>
      </p:sp>
      <p:sp>
        <p:nvSpPr>
          <p:cNvPr id="110" name="Google Shape;110;p3"/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DESCRIPCIÓN DEL PROYECTO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1" name="Google Shape;111;p3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12" name="Google Shape;112;p3"/>
          <p:cNvSpPr/>
          <p:nvPr/>
        </p:nvSpPr>
        <p:spPr>
          <a:xfrm>
            <a:off x="714909" y="2169769"/>
            <a:ext cx="4348705" cy="4092601"/>
          </a:xfrm>
          <a:prstGeom prst="roundRect">
            <a:avLst>
              <a:gd name="adj" fmla="val 10901"/>
            </a:avLst>
          </a:prstGeom>
          <a:solidFill>
            <a:schemeClr val="lt1"/>
          </a:solidFill>
          <a:ln w="12700" cap="flat" cmpd="sng">
            <a:solidFill>
              <a:schemeClr val="accent1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8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Problema o dolor</a:t>
            </a:r>
            <a:endParaRPr/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C1C1C"/>
                </a:solidFill>
                <a:latin typeface="Calibri"/>
              </a:rPr>
              <a:t>•  El uso de EPP es obligatorio (DS 594, art. 53) y su incumplimiento causa lesiones.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C1C1C"/>
                </a:solidFill>
                <a:latin typeface="Calibri"/>
              </a:rPr>
              <a:t>•  Hoy la fiscalización es humana: muestral, reactiva, sin dato y sin trazabilidad.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C1C1C"/>
                </a:solidFill>
                <a:latin typeface="Calibri"/>
              </a:rPr>
              <a:t>•  La obra ya tiene cámaras grabando. Falta alguien que mire.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C1C1C"/>
                </a:solidFill>
                <a:latin typeface="Calibri"/>
              </a:rPr>
              <a:t>•  Nadie puede responder qué EPP se incumple más, dónde ni cuándo.</a:t>
            </a:r>
          </a:p>
        </p:txBody>
      </p:sp>
      <p:sp>
        <p:nvSpPr>
          <p:cNvPr id="113" name="Google Shape;113;p3"/>
          <p:cNvSpPr/>
          <p:nvPr/>
        </p:nvSpPr>
        <p:spPr>
          <a:xfrm>
            <a:off x="6912079" y="2177325"/>
            <a:ext cx="4348705" cy="4092601"/>
          </a:xfrm>
          <a:prstGeom prst="roundRect">
            <a:avLst>
              <a:gd name="adj" fmla="val 10901"/>
            </a:avLst>
          </a:prstGeom>
          <a:solidFill>
            <a:schemeClr val="lt1"/>
          </a:solidFill>
          <a:ln w="12700" cap="flat" cmpd="sng">
            <a:solidFill>
              <a:schemeClr val="accent1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8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Propuesta de solución</a:t>
            </a:r>
            <a:endParaRPr/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C1C1C"/>
                </a:solidFill>
                <a:latin typeface="Calibri"/>
              </a:rPr>
              <a:t>•  Plataforma web que procesa el video existente y detecta casco y chaleco.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C1C1C"/>
                </a:solidFill>
                <a:latin typeface="Calibri"/>
              </a:rPr>
              <a:t>•  Cada incumplimiento es un evento: inicio, término, zona y evidencia.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C1C1C"/>
                </a:solidFill>
                <a:latin typeface="Calibri"/>
              </a:rPr>
              <a:t>•  Alerta al responsable con acuse de recibo y sin fatiga de avisos.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C1C1C"/>
                </a:solidFill>
                <a:latin typeface="Calibri"/>
              </a:rPr>
              <a:t>•  Analítica por EPP, zona, horario y tendencia.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C1C1C"/>
                </a:solidFill>
                <a:latin typeface="Calibri"/>
              </a:rPr>
              <a:t>•  Sin identificar personas: privacidad por diseño.</a:t>
            </a:r>
          </a:p>
        </p:txBody>
      </p:sp>
      <p:sp>
        <p:nvSpPr>
          <p:cNvPr id="114" name="Google Shape;114;p3"/>
          <p:cNvSpPr/>
          <p:nvPr/>
        </p:nvSpPr>
        <p:spPr>
          <a:xfrm>
            <a:off x="5456903" y="3736258"/>
            <a:ext cx="1140542" cy="757084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2700" cap="flat" cmpd="sng">
            <a:solidFill>
              <a:srgbClr val="1C305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124;p4">
            <a:extLst>
              <a:ext uri="{FF2B5EF4-FFF2-40B4-BE49-F238E27FC236}">
                <a16:creationId xmlns:a16="http://schemas.microsoft.com/office/drawing/2014/main" id="{511A404B-790A-1C5C-2689-FFA73812F9C0}"/>
              </a:ext>
            </a:extLst>
          </p:cNvPr>
          <p:cNvSpPr/>
          <p:nvPr/>
        </p:nvSpPr>
        <p:spPr>
          <a:xfrm>
            <a:off x="5994401" y="4732407"/>
            <a:ext cx="5583082" cy="1575221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12700" cap="flat" cmpd="sng">
            <a:solidFill>
              <a:schemeClr val="accent1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24;p4">
            <a:extLst>
              <a:ext uri="{FF2B5EF4-FFF2-40B4-BE49-F238E27FC236}">
                <a16:creationId xmlns:a16="http://schemas.microsoft.com/office/drawing/2014/main" id="{0F40C7AB-8E0E-D587-66AC-A66F92081B36}"/>
              </a:ext>
            </a:extLst>
          </p:cNvPr>
          <p:cNvSpPr/>
          <p:nvPr/>
        </p:nvSpPr>
        <p:spPr>
          <a:xfrm>
            <a:off x="614514" y="4732407"/>
            <a:ext cx="5240145" cy="1575221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12700" cap="flat" cmpd="sng">
            <a:solidFill>
              <a:schemeClr val="accent1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9" name="Google Shape;119;p4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4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“GUARDIÁN EPP”</a:t>
            </a:r>
            <a:endParaRPr/>
          </a:p>
        </p:txBody>
      </p:sp>
      <p:sp>
        <p:nvSpPr>
          <p:cNvPr id="121" name="Google Shape;121;p4"/>
          <p:cNvSpPr txBox="1"/>
          <p:nvPr/>
        </p:nvSpPr>
        <p:spPr>
          <a:xfrm>
            <a:off x="0" y="1384304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Objetivo General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2" name="Google Shape;122;p4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23" name="Google Shape;123;p4"/>
          <p:cNvSpPr txBox="1"/>
          <p:nvPr/>
        </p:nvSpPr>
        <p:spPr>
          <a:xfrm>
            <a:off x="1" y="4082446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Objetivos Específicos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4"/>
          <p:cNvSpPr/>
          <p:nvPr/>
        </p:nvSpPr>
        <p:spPr>
          <a:xfrm>
            <a:off x="614515" y="2040571"/>
            <a:ext cx="10962967" cy="1575221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12700" cap="flat" cmpd="sng">
            <a:solidFill>
              <a:schemeClr val="accent1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Desarrollar una plataforma web que detecte automáticamente, sobre video de una obra de construcción, el incumplimiento en el uso de elementos de protección personal, y que convierta cada detección en un evento gestionable, con alerta al responsable, evidencia asociada y analítica de tendencia, para anticipar condiciones inseguras en lugar de documentarlas después del accidente.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4"/>
          <p:cNvSpPr/>
          <p:nvPr/>
        </p:nvSpPr>
        <p:spPr>
          <a:xfrm>
            <a:off x="614514" y="4732407"/>
            <a:ext cx="5240145" cy="1575221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12700" cap="flat" cmpd="sng">
            <a:noFill/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3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 </a:t>
            </a:r>
            <a:r>
              <a:rPr lang="es-CL" sz="13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Dataset</a:t>
            </a:r>
            <a:r>
              <a:rPr lang="es-CL" sz="13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propio: imágenes públicas para entrenar, video de obra para probar.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 dirty="0">
                <a:solidFill>
                  <a:srgbClr val="1C1C1C"/>
                </a:solidFill>
                <a:latin typeface="Calibri"/>
              </a:rPr>
              <a:t>2. Detector de casco y </a:t>
            </a:r>
            <a:r>
              <a:rPr sz="1300" b="0" i="0" dirty="0" err="1">
                <a:solidFill>
                  <a:srgbClr val="1C1C1C"/>
                </a:solidFill>
                <a:latin typeface="Calibri"/>
              </a:rPr>
              <a:t>chaleco</a:t>
            </a:r>
            <a:r>
              <a:rPr sz="1300" b="0" i="0" dirty="0">
                <a:solidFill>
                  <a:srgbClr val="1C1C1C"/>
                </a:solidFill>
                <a:latin typeface="Calibri"/>
              </a:rPr>
              <a:t>, </a:t>
            </a:r>
            <a:r>
              <a:rPr sz="1300" b="0" i="0" dirty="0" err="1">
                <a:solidFill>
                  <a:srgbClr val="1C1C1C"/>
                </a:solidFill>
                <a:latin typeface="Calibri"/>
              </a:rPr>
              <a:t>evaluado</a:t>
            </a:r>
            <a:r>
              <a:rPr sz="1300" b="0" i="0" dirty="0">
                <a:solidFill>
                  <a:srgbClr val="1C1C1C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C1C1C"/>
                </a:solidFill>
                <a:latin typeface="Calibri"/>
              </a:rPr>
              <a:t>por</a:t>
            </a:r>
            <a:r>
              <a:rPr sz="1300" b="0" i="0" dirty="0">
                <a:solidFill>
                  <a:srgbClr val="1C1C1C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C1C1C"/>
                </a:solidFill>
                <a:latin typeface="Calibri"/>
              </a:rPr>
              <a:t>cuadro</a:t>
            </a:r>
            <a:r>
              <a:rPr sz="1300" b="0" i="0" dirty="0">
                <a:solidFill>
                  <a:srgbClr val="1C1C1C"/>
                </a:solidFill>
                <a:latin typeface="Calibri"/>
              </a:rPr>
              <a:t>, </a:t>
            </a:r>
            <a:r>
              <a:rPr sz="1300" b="0" i="0" dirty="0" err="1">
                <a:solidFill>
                  <a:srgbClr val="1C1C1C"/>
                </a:solidFill>
                <a:latin typeface="Calibri"/>
              </a:rPr>
              <a:t>evento</a:t>
            </a:r>
            <a:r>
              <a:rPr sz="1300" b="0" i="0" dirty="0">
                <a:solidFill>
                  <a:srgbClr val="1C1C1C"/>
                </a:solidFill>
                <a:latin typeface="Calibri"/>
              </a:rPr>
              <a:t> y </a:t>
            </a:r>
            <a:r>
              <a:rPr sz="1300" b="0" i="0" dirty="0" err="1">
                <a:solidFill>
                  <a:srgbClr val="1C1C1C"/>
                </a:solidFill>
                <a:latin typeface="Calibri"/>
              </a:rPr>
              <a:t>alerta</a:t>
            </a:r>
            <a:r>
              <a:rPr sz="1300" b="0" i="0" dirty="0">
                <a:solidFill>
                  <a:srgbClr val="1C1C1C"/>
                </a:solidFill>
                <a:latin typeface="Calibri"/>
              </a:rPr>
              <a:t>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 dirty="0">
                <a:solidFill>
                  <a:srgbClr val="1C1C1C"/>
                </a:solidFill>
                <a:latin typeface="Calibri"/>
              </a:rPr>
              <a:t>3. </a:t>
            </a:r>
            <a:r>
              <a:rPr sz="1300" b="0" i="0" dirty="0" err="1">
                <a:solidFill>
                  <a:srgbClr val="1C1C1C"/>
                </a:solidFill>
                <a:latin typeface="Calibri"/>
              </a:rPr>
              <a:t>Detecciones</a:t>
            </a:r>
            <a:r>
              <a:rPr sz="1300" b="0" i="0" dirty="0">
                <a:solidFill>
                  <a:srgbClr val="1C1C1C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C1C1C"/>
                </a:solidFill>
                <a:latin typeface="Calibri"/>
              </a:rPr>
              <a:t>convertidas</a:t>
            </a:r>
            <a:r>
              <a:rPr sz="1300" b="0" i="0" dirty="0">
                <a:solidFill>
                  <a:srgbClr val="1C1C1C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C1C1C"/>
                </a:solidFill>
                <a:latin typeface="Calibri"/>
              </a:rPr>
              <a:t>en</a:t>
            </a:r>
            <a:r>
              <a:rPr sz="1300" b="0" i="0" dirty="0">
                <a:solidFill>
                  <a:srgbClr val="1C1C1C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C1C1C"/>
                </a:solidFill>
                <a:latin typeface="Calibri"/>
              </a:rPr>
              <a:t>eventos</a:t>
            </a:r>
            <a:r>
              <a:rPr sz="1300" b="0" i="0" dirty="0">
                <a:solidFill>
                  <a:srgbClr val="1C1C1C"/>
                </a:solidFill>
                <a:latin typeface="Calibri"/>
              </a:rPr>
              <a:t> con </a:t>
            </a:r>
            <a:r>
              <a:rPr sz="1300" b="0" i="0" dirty="0" err="1">
                <a:solidFill>
                  <a:srgbClr val="1C1C1C"/>
                </a:solidFill>
                <a:latin typeface="Calibri"/>
              </a:rPr>
              <a:t>inicio</a:t>
            </a:r>
            <a:r>
              <a:rPr sz="1300" b="0" i="0" dirty="0">
                <a:solidFill>
                  <a:srgbClr val="1C1C1C"/>
                </a:solidFill>
                <a:latin typeface="Calibri"/>
              </a:rPr>
              <a:t>, </a:t>
            </a:r>
            <a:r>
              <a:rPr sz="1300" b="0" i="0" dirty="0" err="1">
                <a:solidFill>
                  <a:srgbClr val="1C1C1C"/>
                </a:solidFill>
                <a:latin typeface="Calibri"/>
              </a:rPr>
              <a:t>término</a:t>
            </a:r>
            <a:r>
              <a:rPr sz="1300" b="0" i="0" dirty="0">
                <a:solidFill>
                  <a:srgbClr val="1C1C1C"/>
                </a:solidFill>
                <a:latin typeface="Calibri"/>
              </a:rPr>
              <a:t>, zona y </a:t>
            </a:r>
            <a:r>
              <a:rPr sz="1300" b="0" i="0" dirty="0" err="1">
                <a:solidFill>
                  <a:srgbClr val="1C1C1C"/>
                </a:solidFill>
                <a:latin typeface="Calibri"/>
              </a:rPr>
              <a:t>evidencia</a:t>
            </a:r>
            <a:r>
              <a:rPr sz="1300" b="0" i="0" dirty="0">
                <a:solidFill>
                  <a:srgbClr val="1C1C1C"/>
                </a:solidFill>
                <a:latin typeface="Calibri"/>
              </a:rPr>
              <a:t>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 dirty="0">
                <a:solidFill>
                  <a:srgbClr val="1C1C1C"/>
                </a:solidFill>
                <a:latin typeface="Calibri"/>
              </a:rPr>
              <a:t>4. Motor de </a:t>
            </a:r>
            <a:r>
              <a:rPr sz="1300" b="0" i="0" dirty="0" err="1">
                <a:solidFill>
                  <a:srgbClr val="1C1C1C"/>
                </a:solidFill>
                <a:latin typeface="Calibri"/>
              </a:rPr>
              <a:t>reglas</a:t>
            </a:r>
            <a:r>
              <a:rPr sz="1300" b="0" i="0" dirty="0">
                <a:solidFill>
                  <a:srgbClr val="1C1C1C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C1C1C"/>
                </a:solidFill>
                <a:latin typeface="Calibri"/>
              </a:rPr>
              <a:t>por</a:t>
            </a:r>
            <a:r>
              <a:rPr sz="1300" b="0" i="0" dirty="0">
                <a:solidFill>
                  <a:srgbClr val="1C1C1C"/>
                </a:solidFill>
                <a:latin typeface="Calibri"/>
              </a:rPr>
              <a:t> zona, </a:t>
            </a:r>
            <a:r>
              <a:rPr sz="1300" b="0" i="0" dirty="0" err="1">
                <a:solidFill>
                  <a:srgbClr val="1C1C1C"/>
                </a:solidFill>
                <a:latin typeface="Calibri"/>
              </a:rPr>
              <a:t>turno</a:t>
            </a:r>
            <a:r>
              <a:rPr sz="1300" b="0" i="0" dirty="0">
                <a:solidFill>
                  <a:srgbClr val="1C1C1C"/>
                </a:solidFill>
                <a:latin typeface="Calibri"/>
              </a:rPr>
              <a:t> y </a:t>
            </a:r>
            <a:r>
              <a:rPr sz="1300" b="0" i="0" dirty="0" err="1">
                <a:solidFill>
                  <a:srgbClr val="1C1C1C"/>
                </a:solidFill>
                <a:latin typeface="Calibri"/>
              </a:rPr>
              <a:t>severidad</a:t>
            </a:r>
            <a:r>
              <a:rPr sz="1300" b="0" i="0" dirty="0">
                <a:solidFill>
                  <a:srgbClr val="1C1C1C"/>
                </a:solidFill>
                <a:latin typeface="Calibri"/>
              </a:rPr>
              <a:t>, sin </a:t>
            </a:r>
            <a:r>
              <a:rPr sz="1300" b="0" i="0" dirty="0" err="1">
                <a:solidFill>
                  <a:srgbClr val="1C1C1C"/>
                </a:solidFill>
                <a:latin typeface="Calibri"/>
              </a:rPr>
              <a:t>tocar</a:t>
            </a:r>
            <a:r>
              <a:rPr sz="1300" b="0" i="0" dirty="0">
                <a:solidFill>
                  <a:srgbClr val="1C1C1C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C1C1C"/>
                </a:solidFill>
                <a:latin typeface="Calibri"/>
              </a:rPr>
              <a:t>código</a:t>
            </a:r>
            <a:r>
              <a:rPr sz="1300" b="0" i="0" dirty="0">
                <a:solidFill>
                  <a:srgbClr val="1C1C1C"/>
                </a:solidFill>
                <a:latin typeface="Calibri"/>
              </a:rPr>
              <a:t>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263640" y="5006030"/>
            <a:ext cx="5349240" cy="1027974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 dirty="0">
                <a:solidFill>
                  <a:srgbClr val="1C1C1C"/>
                </a:solidFill>
                <a:latin typeface="Calibri"/>
              </a:rPr>
              <a:t>5. </a:t>
            </a:r>
            <a:r>
              <a:rPr sz="1300" b="0" i="0" dirty="0" err="1">
                <a:solidFill>
                  <a:srgbClr val="1C1C1C"/>
                </a:solidFill>
                <a:latin typeface="Calibri"/>
              </a:rPr>
              <a:t>Alertas</a:t>
            </a:r>
            <a:r>
              <a:rPr sz="1300" b="0" i="0" dirty="0">
                <a:solidFill>
                  <a:srgbClr val="1C1C1C"/>
                </a:solidFill>
                <a:latin typeface="Calibri"/>
              </a:rPr>
              <a:t> con </a:t>
            </a:r>
            <a:r>
              <a:rPr sz="1300" b="0" i="0" dirty="0" err="1">
                <a:solidFill>
                  <a:srgbClr val="1C1C1C"/>
                </a:solidFill>
                <a:latin typeface="Calibri"/>
              </a:rPr>
              <a:t>acuse</a:t>
            </a:r>
            <a:r>
              <a:rPr sz="1300" b="0" i="0" dirty="0">
                <a:solidFill>
                  <a:srgbClr val="1C1C1C"/>
                </a:solidFill>
                <a:latin typeface="Calibri"/>
              </a:rPr>
              <a:t> de </a:t>
            </a:r>
            <a:r>
              <a:rPr sz="1300" b="0" i="0" dirty="0" err="1">
                <a:solidFill>
                  <a:srgbClr val="1C1C1C"/>
                </a:solidFill>
                <a:latin typeface="Calibri"/>
              </a:rPr>
              <a:t>recibo</a:t>
            </a:r>
            <a:r>
              <a:rPr sz="1300" b="0" i="0" dirty="0">
                <a:solidFill>
                  <a:srgbClr val="1C1C1C"/>
                </a:solidFill>
                <a:latin typeface="Calibri"/>
              </a:rPr>
              <a:t> y </a:t>
            </a:r>
            <a:r>
              <a:rPr sz="1300" b="0" i="0" dirty="0" err="1">
                <a:solidFill>
                  <a:srgbClr val="1C1C1C"/>
                </a:solidFill>
                <a:latin typeface="Calibri"/>
              </a:rPr>
              <a:t>presupuesto</a:t>
            </a:r>
            <a:r>
              <a:rPr sz="1300" b="0" i="0" dirty="0">
                <a:solidFill>
                  <a:srgbClr val="1C1C1C"/>
                </a:solidFill>
                <a:latin typeface="Calibri"/>
              </a:rPr>
              <a:t> de </a:t>
            </a:r>
            <a:r>
              <a:rPr sz="1300" b="0" i="0" dirty="0" err="1">
                <a:solidFill>
                  <a:srgbClr val="1C1C1C"/>
                </a:solidFill>
                <a:latin typeface="Calibri"/>
              </a:rPr>
              <a:t>avisos</a:t>
            </a:r>
            <a:r>
              <a:rPr sz="1300" b="0" i="0" dirty="0">
                <a:solidFill>
                  <a:srgbClr val="1C1C1C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C1C1C"/>
                </a:solidFill>
                <a:latin typeface="Calibri"/>
              </a:rPr>
              <a:t>por</a:t>
            </a:r>
            <a:r>
              <a:rPr sz="1300" b="0" i="0" dirty="0">
                <a:solidFill>
                  <a:srgbClr val="1C1C1C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C1C1C"/>
                </a:solidFill>
                <a:latin typeface="Calibri"/>
              </a:rPr>
              <a:t>turno</a:t>
            </a:r>
            <a:r>
              <a:rPr sz="1300" b="0" i="0" dirty="0">
                <a:solidFill>
                  <a:srgbClr val="1C1C1C"/>
                </a:solidFill>
                <a:latin typeface="Calibri"/>
              </a:rPr>
              <a:t>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 dirty="0">
                <a:solidFill>
                  <a:srgbClr val="1C1C1C"/>
                </a:solidFill>
                <a:latin typeface="Calibri"/>
              </a:rPr>
              <a:t>6. Web: </a:t>
            </a:r>
            <a:r>
              <a:rPr sz="1300" b="0" i="0" dirty="0" err="1">
                <a:solidFill>
                  <a:srgbClr val="1C1C1C"/>
                </a:solidFill>
                <a:latin typeface="Calibri"/>
              </a:rPr>
              <a:t>bandeja</a:t>
            </a:r>
            <a:r>
              <a:rPr sz="1300" b="0" i="0" dirty="0">
                <a:solidFill>
                  <a:srgbClr val="1C1C1C"/>
                </a:solidFill>
                <a:latin typeface="Calibri"/>
              </a:rPr>
              <a:t>, visor de </a:t>
            </a:r>
            <a:r>
              <a:rPr sz="1300" b="0" i="0" dirty="0" err="1">
                <a:solidFill>
                  <a:srgbClr val="1C1C1C"/>
                </a:solidFill>
                <a:latin typeface="Calibri"/>
              </a:rPr>
              <a:t>evidencia</a:t>
            </a:r>
            <a:r>
              <a:rPr sz="1300" b="0" i="0" dirty="0">
                <a:solidFill>
                  <a:srgbClr val="1C1C1C"/>
                </a:solidFill>
                <a:latin typeface="Calibri"/>
              </a:rPr>
              <a:t>, </a:t>
            </a:r>
            <a:r>
              <a:rPr sz="1300" b="0" i="0" dirty="0" err="1">
                <a:solidFill>
                  <a:srgbClr val="1C1C1C"/>
                </a:solidFill>
                <a:latin typeface="Calibri"/>
              </a:rPr>
              <a:t>reglas</a:t>
            </a:r>
            <a:r>
              <a:rPr sz="1300" b="0" i="0" dirty="0">
                <a:solidFill>
                  <a:srgbClr val="1C1C1C"/>
                </a:solidFill>
                <a:latin typeface="Calibri"/>
              </a:rPr>
              <a:t> y </a:t>
            </a:r>
            <a:r>
              <a:rPr sz="1300" b="0" i="0" dirty="0" err="1">
                <a:solidFill>
                  <a:srgbClr val="1C1C1C"/>
                </a:solidFill>
                <a:latin typeface="Calibri"/>
              </a:rPr>
              <a:t>tablero</a:t>
            </a:r>
            <a:r>
              <a:rPr sz="1300" b="0" i="0" dirty="0">
                <a:solidFill>
                  <a:srgbClr val="1C1C1C"/>
                </a:solidFill>
                <a:latin typeface="Calibri"/>
              </a:rPr>
              <a:t> de </a:t>
            </a:r>
            <a:r>
              <a:rPr sz="1300" b="0" i="0" dirty="0" err="1">
                <a:solidFill>
                  <a:srgbClr val="1C1C1C"/>
                </a:solidFill>
                <a:latin typeface="Calibri"/>
              </a:rPr>
              <a:t>analítica</a:t>
            </a:r>
            <a:r>
              <a:rPr sz="1300" b="0" i="0" dirty="0">
                <a:solidFill>
                  <a:srgbClr val="1C1C1C"/>
                </a:solidFill>
                <a:latin typeface="Calibri"/>
              </a:rPr>
              <a:t>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 dirty="0">
                <a:solidFill>
                  <a:srgbClr val="1C1C1C"/>
                </a:solidFill>
                <a:latin typeface="Calibri"/>
              </a:rPr>
              <a:t>7. </a:t>
            </a:r>
            <a:r>
              <a:rPr sz="1300" b="0" i="0" dirty="0" err="1">
                <a:solidFill>
                  <a:srgbClr val="1C1C1C"/>
                </a:solidFill>
                <a:latin typeface="Calibri"/>
              </a:rPr>
              <a:t>Arquitectura</a:t>
            </a:r>
            <a:r>
              <a:rPr sz="1300" b="0" i="0" dirty="0">
                <a:solidFill>
                  <a:srgbClr val="1C1C1C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C1C1C"/>
                </a:solidFill>
                <a:latin typeface="Calibri"/>
              </a:rPr>
              <a:t>lista</a:t>
            </a:r>
            <a:r>
              <a:rPr sz="1300" b="0" i="0" dirty="0">
                <a:solidFill>
                  <a:srgbClr val="1C1C1C"/>
                </a:solidFill>
                <a:latin typeface="Calibri"/>
              </a:rPr>
              <a:t> para </a:t>
            </a:r>
            <a:r>
              <a:rPr sz="1300" b="0" i="0" u="sng" dirty="0">
                <a:solidFill>
                  <a:srgbClr val="1C1C1C"/>
                </a:solidFill>
                <a:latin typeface="Calibri"/>
              </a:rPr>
              <a:t>ingesta</a:t>
            </a:r>
            <a:r>
              <a:rPr sz="1300" b="0" i="0" dirty="0">
                <a:solidFill>
                  <a:srgbClr val="1C1C1C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C1C1C"/>
                </a:solidFill>
                <a:latin typeface="Calibri"/>
              </a:rPr>
              <a:t>en</a:t>
            </a:r>
            <a:r>
              <a:rPr sz="1300" b="0" i="0" dirty="0">
                <a:solidFill>
                  <a:srgbClr val="1C1C1C"/>
                </a:solidFill>
                <a:latin typeface="Calibri"/>
              </a:rPr>
              <a:t> vivo; el </a:t>
            </a:r>
            <a:r>
              <a:rPr sz="1300" b="0" i="0" dirty="0" err="1">
                <a:solidFill>
                  <a:srgbClr val="1C1C1C"/>
                </a:solidFill>
                <a:latin typeface="Calibri"/>
              </a:rPr>
              <a:t>dominio</a:t>
            </a:r>
            <a:r>
              <a:rPr sz="1300" b="0" i="0" dirty="0">
                <a:solidFill>
                  <a:srgbClr val="1C1C1C"/>
                </a:solidFill>
                <a:latin typeface="Calibri"/>
              </a:rPr>
              <a:t> es </a:t>
            </a:r>
            <a:r>
              <a:rPr sz="1300" b="0" i="0" dirty="0" err="1">
                <a:solidFill>
                  <a:srgbClr val="1C1C1C"/>
                </a:solidFill>
                <a:latin typeface="Calibri"/>
              </a:rPr>
              <a:t>configuración</a:t>
            </a:r>
            <a:r>
              <a:rPr sz="1300" b="0" i="0" dirty="0">
                <a:solidFill>
                  <a:srgbClr val="1C1C1C"/>
                </a:solidFill>
                <a:latin typeface="Calibri"/>
              </a:rPr>
              <a:t>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 dirty="0">
                <a:solidFill>
                  <a:srgbClr val="1C1C1C"/>
                </a:solidFill>
                <a:latin typeface="Calibri"/>
              </a:rPr>
              <a:t>8. </a:t>
            </a:r>
            <a:r>
              <a:rPr sz="1300" b="0" i="0" dirty="0" err="1">
                <a:solidFill>
                  <a:srgbClr val="1C1C1C"/>
                </a:solidFill>
                <a:latin typeface="Calibri"/>
              </a:rPr>
              <a:t>Validación</a:t>
            </a:r>
            <a:r>
              <a:rPr sz="1300" b="0" i="0" dirty="0">
                <a:solidFill>
                  <a:srgbClr val="1C1C1C"/>
                </a:solidFill>
                <a:latin typeface="Calibri"/>
              </a:rPr>
              <a:t> con plan de </a:t>
            </a:r>
            <a:r>
              <a:rPr sz="1300" b="0" i="0" dirty="0" err="1">
                <a:solidFill>
                  <a:srgbClr val="1C1C1C"/>
                </a:solidFill>
                <a:latin typeface="Calibri"/>
              </a:rPr>
              <a:t>pruebas</a:t>
            </a:r>
            <a:r>
              <a:rPr sz="1300" b="0" i="0" dirty="0">
                <a:solidFill>
                  <a:srgbClr val="1C1C1C"/>
                </a:solidFill>
                <a:latin typeface="Calibri"/>
              </a:rPr>
              <a:t> formal y video de </a:t>
            </a:r>
            <a:r>
              <a:rPr sz="1300" b="0" i="0" dirty="0" err="1">
                <a:solidFill>
                  <a:srgbClr val="1C1C1C"/>
                </a:solidFill>
                <a:latin typeface="Calibri"/>
              </a:rPr>
              <a:t>referencia</a:t>
            </a:r>
            <a:r>
              <a:rPr sz="1300" b="0" i="0" dirty="0">
                <a:solidFill>
                  <a:srgbClr val="1C1C1C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5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5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“GUARDIÁN EPP”</a:t>
            </a:r>
            <a:endParaRPr/>
          </a:p>
        </p:txBody>
      </p:sp>
      <p:sp>
        <p:nvSpPr>
          <p:cNvPr id="132" name="Google Shape;132;p5"/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Alcances y limitaciones del proyecto</a:t>
            </a:r>
            <a:endParaRPr/>
          </a:p>
        </p:txBody>
      </p:sp>
      <p:cxnSp>
        <p:nvCxnSpPr>
          <p:cNvPr id="133" name="Google Shape;133;p5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34" name="Rounded Rectangle 133"/>
          <p:cNvSpPr/>
          <p:nvPr/>
        </p:nvSpPr>
        <p:spPr>
          <a:xfrm>
            <a:off x="548640" y="2286000"/>
            <a:ext cx="5394960" cy="4114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1F3864"/>
                </a:solidFill>
                <a:latin typeface="Calibri"/>
              </a:rPr>
              <a:t>Alcance de la versión 1 (semana 15)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Ingesta de archivos de video por carpeta vigilada.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Detección de casco y chaleco con modelo propio afinado.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Seguimiento y agrupación en eventos con inicio, término, zona y evidencia.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Motor de reglas configurable por zona, turno y severidad, sin desplegar código.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Alertas con acuse de recibo, supresión de repetidos y presupuesto por turno.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Bandeja de hallazgos, visor de evidencia, configuración de reglas y tablero de analítica.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263640" y="2286000"/>
            <a:ext cx="5394960" cy="4114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1F3864"/>
                </a:solidFill>
                <a:latin typeface="Calibri"/>
              </a:rPr>
              <a:t>Limitaciones y fuera de alcance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No identifica personas: sin reconocimiento facial ni inferencia de atributos (por diseño).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Ingesta en vivo (RTSP) diseñada y probada, no puesta en producción.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Arnés, guantes y lentes: extensión demostrada si el dataset alcanza, no compromiso.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La cámara debe ser fija; si se mueve, las reglas de la zona se suspenden.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Solo se evalúa en obra de construcción; la minería es un perfil de configuración no evaluado.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Complementa al prevencionista, no lo reemplaza.</a:t>
            </a:r>
          </a:p>
        </p:txBody>
      </p:sp>
    </p:spTree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Google Shape;138;p6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6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“GUARDIÁN EPP”</a:t>
            </a:r>
            <a:endParaRPr/>
          </a:p>
        </p:txBody>
      </p:sp>
      <p:sp>
        <p:nvSpPr>
          <p:cNvPr id="140" name="Google Shape;140;p6"/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Metodología de trabajo para el desarrollo del proyecto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1" name="Google Shape;141;p6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42" name="TextBox 141"/>
          <p:cNvSpPr txBox="1"/>
          <p:nvPr/>
        </p:nvSpPr>
        <p:spPr>
          <a:xfrm>
            <a:off x="548640" y="2148840"/>
            <a:ext cx="11064240" cy="6858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C1C"/>
                </a:solidFill>
                <a:latin typeface="Calibri"/>
              </a:rPr>
              <a:t>Iterativa e incremental, en ciclos semanales. Principio: integrar temprano y mejorar después. El recorrido completo, del video a la alerta, funciona en la semana 9 aunque el modelo sea mediocre.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548640" y="2971800"/>
            <a:ext cx="3566160" cy="1600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1. Gestión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Un issue por tarea · reunión semanal de 45 min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Etiqueta de versión cada viernes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ADR para toda decisión de fondo, con alternativas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4297679" y="2971800"/>
            <a:ext cx="3566160" cy="1600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2. Paralelismo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Contrato OpenAPI congelado en S4 (17 operaciones)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Servidor simulado: el frontend no espera al modelo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8046719" y="2971800"/>
            <a:ext cx="3566160" cy="1600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3. Calidad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Nada entra a main sin pull request ni CI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Tipado estricto, pruebas en 2 versiones de Python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Terminado = CI + pruebas + docs + otro lo ejecutó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48640" y="4754880"/>
            <a:ext cx="3566160" cy="1600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4. Datos y modelo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Imágenes públicas entrenan, video propio prueba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Pre-etiquetado automático y corrección en 3 rondas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Métricas por cuadro, evento y alerta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4297679" y="4754880"/>
            <a:ext cx="3566160" cy="1600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5. Verificaciones con fecha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Acceso al video · píxeles por cámara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Horas contra el calendario · matriz de EPP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El resultado ajusta el plan por escrito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8046719" y="4754880"/>
            <a:ext cx="3566160" cy="1600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6. Privacidad por diseño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Sin identificación de personas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Rostro difuminado antes de guardar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Reglas con base de licitud y retención en la BD</a:t>
            </a:r>
          </a:p>
        </p:txBody>
      </p:sp>
    </p:spTree>
  </p:cSld>
  <p:clrMapOvr>
    <a:masterClrMapping/>
  </p:clrMapOvr>
  <p:transition spd="slow">
    <p:wip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7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7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“GUARDIÁN EPP”</a:t>
            </a:r>
            <a:endParaRPr/>
          </a:p>
        </p:txBody>
      </p:sp>
      <p:sp>
        <p:nvSpPr>
          <p:cNvPr id="148" name="Google Shape;148;p7"/>
          <p:cNvSpPr txBox="1"/>
          <p:nvPr/>
        </p:nvSpPr>
        <p:spPr>
          <a:xfrm>
            <a:off x="1" y="1155656"/>
            <a:ext cx="12191999" cy="8925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Cronograma para el desarrollo del proyecto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2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Plan inicial de 18 semanas · Fase 1 (S1-S4) · Fase 2 (S5-S15) · Fase 3 (S16-S18) · hitos H1 a H5</a:t>
            </a:r>
            <a:endParaRPr sz="1000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9" name="Google Shape;149;p7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  <p:graphicFrame>
        <p:nvGraphicFramePr>
          <p:cNvPr id="150" name="Table 149"/>
          <p:cNvGraphicFramePr>
            <a:graphicFrameLocks noGrp="1"/>
          </p:cNvGraphicFramePr>
          <p:nvPr/>
        </p:nvGraphicFramePr>
        <p:xfrm>
          <a:off x="365760" y="2148840"/>
          <a:ext cx="11430000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77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7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775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775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775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775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775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775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775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775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47752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47752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47752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47752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47752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477520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Actividad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S2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S3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S4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S5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S6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S7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S8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S9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S10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S11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S12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S13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S14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S15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S16</a:t>
                      </a:r>
                    </a:p>
                  </a:txBody>
                  <a:tcPr marL="27432" marR="27432" marT="9144" marB="9144" anchor="ctr">
                    <a:solidFill>
                      <a:srgbClr val="75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S17</a:t>
                      </a:r>
                    </a:p>
                  </a:txBody>
                  <a:tcPr marL="27432" marR="27432" marT="9144" marB="9144" anchor="ctr">
                    <a:solidFill>
                      <a:srgbClr val="75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S18</a:t>
                      </a:r>
                    </a:p>
                  </a:txBody>
                  <a:tcPr marL="27432" marR="27432" marT="9144" marB="9144" anchor="ctr">
                    <a:solidFill>
                      <a:srgbClr val="7570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Definición y arquitectura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Repositorio, CI y contrato de API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Grabación, dataset y etiquetado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Entrenamiento y evaluación del modelo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Pipeline de video y eventos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API, dominio y base de datos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Frontend (bandeja, visor, reglas, analítica)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Motor de reglas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Alertas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Analítica y reportes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Pruebas y endurecimiento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Documentación y entregables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Calibri"/>
                        </a:rPr>
                        <a:t>Hitos</a:t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H2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H3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H4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H5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151" name="TextBox 150"/>
          <p:cNvSpPr txBox="1"/>
          <p:nvPr/>
        </p:nvSpPr>
        <p:spPr>
          <a:xfrm>
            <a:off x="365760" y="6080760"/>
            <a:ext cx="11430000" cy="5486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57070"/>
                </a:solidFill>
                <a:latin typeface="Calibri"/>
              </a:rPr>
              <a:t>H1 · S4: Exposición grupal y Guía 1.5   ·   H2 · S9: Recorrido completo funcionando   ·   H3 · S10: Evaluación de avance   ·   H4 · S15: Entrega final v1.0.0   ·   H5 · S18: Defensa</a:t>
            </a:r>
          </a:p>
        </p:txBody>
      </p:sp>
    </p:spTree>
  </p:cSld>
  <p:clrMapOvr>
    <a:masterClrMapping/>
  </p:clrMapOvr>
  <p:transition spd="slow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8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8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“GUARDIÁN EPP”</a:t>
            </a:r>
            <a:endParaRPr/>
          </a:p>
        </p:txBody>
      </p:sp>
      <p:sp>
        <p:nvSpPr>
          <p:cNvPr id="156" name="Google Shape;156;p8"/>
          <p:cNvSpPr txBox="1"/>
          <p:nvPr/>
        </p:nvSpPr>
        <p:spPr>
          <a:xfrm>
            <a:off x="0" y="1432655"/>
            <a:ext cx="12191999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Arquitectura del software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2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Dos etapas: la Etapa 1 decide, la Etapa 2 solo describe. El evento, no el cuadro, es la unidad del sistema.</a:t>
            </a:r>
            <a:endParaRPr/>
          </a:p>
        </p:txBody>
      </p:sp>
      <p:cxnSp>
        <p:nvCxnSpPr>
          <p:cNvPr id="157" name="Google Shape;157;p8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58" name="Rounded Rectangle 157"/>
          <p:cNvSpPr/>
          <p:nvPr/>
        </p:nvSpPr>
        <p:spPr>
          <a:xfrm>
            <a:off x="365760" y="2423160"/>
            <a:ext cx="4389120" cy="640080"/>
          </a:xfrm>
          <a:prstGeom prst="roundRect">
            <a:avLst>
              <a:gd name="adj" fmla="val 8000"/>
            </a:avLst>
          </a:prstGeom>
          <a:solidFill>
            <a:srgbClr val="DDE5F0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FUENTE  ·  v1: carpeta vigilada  ·  v2: cámara RTSP  →  FrameSource (puerto)  ·  el reloj nace en la captura (capture_ts)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5029200" y="2423160"/>
            <a:ext cx="672084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7570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1C1C1C"/>
                </a:solidFill>
                <a:latin typeface="Calibri"/>
              </a:rPr>
              <a:t>Restricciones que ordenan el diseño: umbrales en segundos, nunca en cuadros  ·  5 fps  ·  reglas versionadas en la BD  ·  RF-DETR (Apache-2.0), sin licencias AGPL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2697480" y="3127248"/>
            <a:ext cx="7315200" cy="2743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3864"/>
                </a:solidFill>
                <a:latin typeface="Calibri"/>
              </a:rPr>
              <a:t>ETAPA 1  ·  barata, siempre encendida  ·  DECIDE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365760" y="3401568"/>
            <a:ext cx="2057400" cy="8686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Muestreo 5 fps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1C1C1C"/>
                </a:solidFill>
                <a:latin typeface="Calibri"/>
              </a:rPr>
              <a:t>máscaras de privacidad antes de inferir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2697480" y="3401568"/>
            <a:ext cx="2057400" cy="8686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Detector RF-DETR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1C1C1C"/>
                </a:solidFill>
                <a:latin typeface="Calibri"/>
              </a:rPr>
              <a:t>casco y chaleco · afinado con datos propios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5029200" y="3401568"/>
            <a:ext cx="2057400" cy="8686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Seguidor ByteTrack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1C1C1C"/>
                </a:solidFill>
                <a:latin typeface="Calibri"/>
              </a:rPr>
              <a:t>track_id efímeros · sin reidentificación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7360920" y="3401568"/>
            <a:ext cx="2057400" cy="8686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Detecciones crudas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1C1C1C"/>
                </a:solidFill>
                <a:latin typeface="Calibri"/>
              </a:rPr>
              <a:t>persistidas por track → recalcular sin GPU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9692640" y="3401568"/>
            <a:ext cx="2057400" cy="8686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Motor de reglas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1C1C1C"/>
                </a:solidFill>
                <a:latin typeface="Calibri"/>
              </a:rPr>
              <a:t>zona · turno · severidad · segundos</a:t>
            </a:r>
          </a:p>
        </p:txBody>
      </p:sp>
      <p:cxnSp>
        <p:nvCxnSpPr>
          <p:cNvPr id="166" name="Connector 165"/>
          <p:cNvCxnSpPr/>
          <p:nvPr/>
        </p:nvCxnSpPr>
        <p:spPr>
          <a:xfrm>
            <a:off x="2423160" y="3835908"/>
            <a:ext cx="274320" cy="0"/>
          </a:xfrm>
          <a:prstGeom prst="line">
            <a:avLst/>
          </a:prstGeom>
          <a:ln w="19050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4754880" y="3835908"/>
            <a:ext cx="274320" cy="0"/>
          </a:xfrm>
          <a:prstGeom prst="line">
            <a:avLst/>
          </a:prstGeom>
          <a:ln w="19050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7086600" y="3835908"/>
            <a:ext cx="274320" cy="0"/>
          </a:xfrm>
          <a:prstGeom prst="line">
            <a:avLst/>
          </a:prstGeom>
          <a:ln w="19050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9418320" y="3835908"/>
            <a:ext cx="274320" cy="0"/>
          </a:xfrm>
          <a:prstGeom prst="line">
            <a:avLst/>
          </a:prstGeom>
          <a:ln w="19050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>
            <a:off x="1394460" y="3063239"/>
            <a:ext cx="0" cy="338329"/>
          </a:xfrm>
          <a:prstGeom prst="line">
            <a:avLst/>
          </a:prstGeom>
          <a:ln w="19050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Rounded Rectangle 170"/>
          <p:cNvSpPr/>
          <p:nvPr/>
        </p:nvSpPr>
        <p:spPr>
          <a:xfrm>
            <a:off x="365760" y="4709160"/>
            <a:ext cx="11384280" cy="4572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HALLAZGO  ·  inicio  ·  término  ·  zona  ·  severidad  ·  evidencia        (un turno: 12 hallazgos, no 200.000 cuadros)</a:t>
            </a:r>
          </a:p>
        </p:txBody>
      </p:sp>
      <p:cxnSp>
        <p:nvCxnSpPr>
          <p:cNvPr id="172" name="Connector 171"/>
          <p:cNvCxnSpPr/>
          <p:nvPr/>
        </p:nvCxnSpPr>
        <p:spPr>
          <a:xfrm>
            <a:off x="10721340" y="4270248"/>
            <a:ext cx="0" cy="438912"/>
          </a:xfrm>
          <a:prstGeom prst="line">
            <a:avLst/>
          </a:prstGeom>
          <a:ln w="19050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ounded Rectangle 172"/>
          <p:cNvSpPr/>
          <p:nvPr/>
        </p:nvSpPr>
        <p:spPr>
          <a:xfrm>
            <a:off x="365760" y="5486400"/>
            <a:ext cx="2057400" cy="9144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Evidencia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1C1C1C"/>
                </a:solidFill>
                <a:latin typeface="Calibri"/>
              </a:rPr>
              <a:t>recorte con rostro difuminado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2697480" y="5486400"/>
            <a:ext cx="2057400" cy="9144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Notificación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1C1C1C"/>
                </a:solidFill>
                <a:latin typeface="Calibri"/>
              </a:rPr>
              <a:t>cola de salida · acuse · supresión · ≤ 6 avisos por turno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5029200" y="5486400"/>
            <a:ext cx="2057400" cy="9144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Etapa 2 · VLM (extensión)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1C1C1C"/>
                </a:solidFill>
                <a:latin typeface="Calibri"/>
              </a:rPr>
              <a:t>describe el hallazgo · NO decide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7360920" y="5486400"/>
            <a:ext cx="2057400" cy="9144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API FastAPI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1C1C1C"/>
                </a:solidFill>
                <a:latin typeface="Calibri"/>
              </a:rPr>
              <a:t>PostgreSQL + Redis · contrato OpenAPI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9692640" y="5486400"/>
            <a:ext cx="2057400" cy="9144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Web React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1C1C1C"/>
                </a:solidFill>
                <a:latin typeface="Calibri"/>
              </a:rPr>
              <a:t>bandeja · visor · reglas · analítica</a:t>
            </a:r>
          </a:p>
        </p:txBody>
      </p:sp>
      <p:cxnSp>
        <p:nvCxnSpPr>
          <p:cNvPr id="178" name="Connector 177"/>
          <p:cNvCxnSpPr/>
          <p:nvPr/>
        </p:nvCxnSpPr>
        <p:spPr>
          <a:xfrm>
            <a:off x="1394460" y="5166360"/>
            <a:ext cx="0" cy="320040"/>
          </a:xfrm>
          <a:prstGeom prst="line">
            <a:avLst/>
          </a:prstGeom>
          <a:ln w="19050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>
            <a:off x="3726180" y="5166360"/>
            <a:ext cx="0" cy="320040"/>
          </a:xfrm>
          <a:prstGeom prst="line">
            <a:avLst/>
          </a:prstGeom>
          <a:ln w="19050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>
            <a:off x="6057900" y="5166360"/>
            <a:ext cx="0" cy="320040"/>
          </a:xfrm>
          <a:prstGeom prst="line">
            <a:avLst/>
          </a:prstGeom>
          <a:ln w="19050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>
            <a:off x="8389620" y="5166360"/>
            <a:ext cx="0" cy="320040"/>
          </a:xfrm>
          <a:prstGeom prst="line">
            <a:avLst/>
          </a:prstGeom>
          <a:ln w="19050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>
            <a:off x="9418320" y="5943600"/>
            <a:ext cx="274320" cy="0"/>
          </a:xfrm>
          <a:prstGeom prst="line">
            <a:avLst/>
          </a:prstGeom>
          <a:ln w="19050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1847</Words>
  <Application>Microsoft Office PowerPoint</Application>
  <PresentationFormat>Panorámica</PresentationFormat>
  <Paragraphs>159</Paragraphs>
  <Slides>8</Slides>
  <Notes>8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1" baseType="lpstr">
      <vt:lpstr>Arial</vt:lpstr>
      <vt:lpstr>Calibri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Gerardo Galan Cruz</dc:creator>
  <cp:lastModifiedBy>LIAN . GRANDON CAMPOS</cp:lastModifiedBy>
  <cp:revision>2</cp:revision>
  <dcterms:created xsi:type="dcterms:W3CDTF">2023-10-28T21:12:11Z</dcterms:created>
  <dcterms:modified xsi:type="dcterms:W3CDTF">2026-09-08T02:46:16Z</dcterms:modified>
</cp:coreProperties>
</file>